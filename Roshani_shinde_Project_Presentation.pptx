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notesMasterIdLst>
    <p:notesMasterId r:id="rId28"/>
  </p:notesMasterIdLst>
  <p:sldIdLst>
    <p:sldId id="256" r:id="rId2"/>
    <p:sldId id="257" r:id="rId3"/>
    <p:sldId id="258" r:id="rId4"/>
    <p:sldId id="282" r:id="rId5"/>
    <p:sldId id="283" r:id="rId6"/>
    <p:sldId id="259" r:id="rId7"/>
    <p:sldId id="285" r:id="rId8"/>
    <p:sldId id="286" r:id="rId9"/>
    <p:sldId id="289" r:id="rId10"/>
    <p:sldId id="290" r:id="rId11"/>
    <p:sldId id="262" r:id="rId12"/>
    <p:sldId id="278" r:id="rId13"/>
    <p:sldId id="291" r:id="rId14"/>
    <p:sldId id="294" r:id="rId15"/>
    <p:sldId id="295" r:id="rId16"/>
    <p:sldId id="274" r:id="rId17"/>
    <p:sldId id="273" r:id="rId18"/>
    <p:sldId id="267" r:id="rId19"/>
    <p:sldId id="269" r:id="rId20"/>
    <p:sldId id="270" r:id="rId21"/>
    <p:sldId id="296" r:id="rId22"/>
    <p:sldId id="297" r:id="rId23"/>
    <p:sldId id="268" r:id="rId24"/>
    <p:sldId id="279" r:id="rId25"/>
    <p:sldId id="298" r:id="rId26"/>
    <p:sldId id="29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AAABCA-F45E-431B-8617-8D789EC6445B}" v="65" dt="2025-03-05T06:03:25.5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BEE3FE-F15A-43C9-B991-056986442EC5}"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1C380B1-C788-4A60-A105-9A23276C1105}">
      <dgm:prSet/>
      <dgm:spPr/>
      <dgm:t>
        <a:bodyPr/>
        <a:lstStyle/>
        <a:p>
          <a:pPr>
            <a:defRPr cap="all"/>
          </a:pPr>
          <a:r>
            <a:rPr lang="en-US" b="0" i="0" dirty="0" smtClean="0"/>
            <a:t>You are working as a Data analyst at Ecommerce, a company currently performing well. The stakeholders wish to maintain this level of performance and seek improvement. For this purpose, they want to devise new strategies</a:t>
          </a:r>
          <a:r>
            <a:rPr lang="en-US" b="0" i="0" smtClean="0"/>
            <a:t>. </a:t>
          </a:r>
          <a:endParaRPr lang="en-US" dirty="0"/>
        </a:p>
      </dgm:t>
    </dgm:pt>
    <dgm:pt modelId="{C90E82C9-10AF-4E3C-B85E-108020AEDC50}" type="sibTrans" cxnId="{ACEA2838-E83F-4D29-AB6C-425DE85F5E7A}">
      <dgm:prSet/>
      <dgm:spPr/>
      <dgm:t>
        <a:bodyPr/>
        <a:lstStyle/>
        <a:p>
          <a:endParaRPr lang="en-US"/>
        </a:p>
      </dgm:t>
    </dgm:pt>
    <dgm:pt modelId="{F0410D2F-A170-4409-B9FB-8975158BD55F}" type="parTrans" cxnId="{ACEA2838-E83F-4D29-AB6C-425DE85F5E7A}">
      <dgm:prSet/>
      <dgm:spPr/>
      <dgm:t>
        <a:bodyPr/>
        <a:lstStyle/>
        <a:p>
          <a:endParaRPr lang="en-US"/>
        </a:p>
      </dgm:t>
    </dgm:pt>
    <dgm:pt modelId="{F3C81C93-0CA2-4D6F-964B-CFAE73664918}">
      <dgm:prSet/>
      <dgm:spPr/>
      <dgm:t>
        <a:bodyPr/>
        <a:lstStyle/>
        <a:p>
          <a:pPr>
            <a:defRPr cap="all"/>
          </a:pPr>
          <a:r>
            <a:rPr lang="en-US" b="0" i="0" dirty="0" smtClean="0"/>
            <a:t>You are part of a team exploring new ways to benefit customers, such as offering more discounts and Prime membership perks. Could you suggest additional methods to identify and reward customers and enhance their shopping experience?</a:t>
          </a:r>
          <a:endParaRPr lang="en-US" dirty="0"/>
        </a:p>
      </dgm:t>
    </dgm:pt>
    <dgm:pt modelId="{C4F69F0B-6594-4650-A8EB-556E02FD70BC}" type="sibTrans" cxnId="{02E74768-ED3A-493A-BCCE-7F57683263A4}">
      <dgm:prSet/>
      <dgm:spPr/>
      <dgm:t>
        <a:bodyPr/>
        <a:lstStyle/>
        <a:p>
          <a:endParaRPr lang="en-US"/>
        </a:p>
      </dgm:t>
    </dgm:pt>
    <dgm:pt modelId="{6071E109-7D52-45EF-809C-121245597C15}" type="parTrans" cxnId="{02E74768-ED3A-493A-BCCE-7F57683263A4}">
      <dgm:prSet/>
      <dgm:spPr/>
      <dgm:t>
        <a:bodyPr/>
        <a:lstStyle/>
        <a:p>
          <a:endParaRPr lang="en-US"/>
        </a:p>
      </dgm:t>
    </dgm:pt>
    <dgm:pt modelId="{03B06091-6805-4747-9F54-4B5E16642AD2}" type="pres">
      <dgm:prSet presAssocID="{F6BEE3FE-F15A-43C9-B991-056986442EC5}" presName="root" presStyleCnt="0">
        <dgm:presLayoutVars>
          <dgm:dir/>
          <dgm:resizeHandles val="exact"/>
        </dgm:presLayoutVars>
      </dgm:prSet>
      <dgm:spPr/>
      <dgm:t>
        <a:bodyPr/>
        <a:lstStyle/>
        <a:p>
          <a:endParaRPr lang="en-US"/>
        </a:p>
      </dgm:t>
    </dgm:pt>
    <dgm:pt modelId="{1FF890F5-C021-4A02-833A-0C3CF1CB2E2A}" type="pres">
      <dgm:prSet presAssocID="{81C380B1-C788-4A60-A105-9A23276C1105}" presName="compNode" presStyleCnt="0"/>
      <dgm:spPr/>
    </dgm:pt>
    <dgm:pt modelId="{999EE414-2D5D-402A-96E5-44DA00B742DB}" type="pres">
      <dgm:prSet presAssocID="{81C380B1-C788-4A60-A105-9A23276C1105}" presName="iconBgRect" presStyleLbl="bgShp" presStyleIdx="0" presStyleCnt="2"/>
      <dgm:spPr>
        <a:prstGeom prst="round2DiagRect">
          <a:avLst>
            <a:gd name="adj1" fmla="val 29727"/>
            <a:gd name="adj2" fmla="val 0"/>
          </a:avLst>
        </a:prstGeom>
      </dgm:spPr>
    </dgm:pt>
    <dgm:pt modelId="{92EEF96A-0D6B-428C-AF75-2A9651DF736D}" type="pres">
      <dgm:prSet presAssocID="{81C380B1-C788-4A60-A105-9A23276C110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Bar Graph with Upward Trend"/>
        </a:ext>
      </dgm:extLst>
    </dgm:pt>
    <dgm:pt modelId="{0D8B4186-2526-49F3-9349-601791C7BBA0}" type="pres">
      <dgm:prSet presAssocID="{81C380B1-C788-4A60-A105-9A23276C1105}" presName="spaceRect" presStyleCnt="0"/>
      <dgm:spPr/>
    </dgm:pt>
    <dgm:pt modelId="{73DB2C32-302E-45D7-BF22-A6BFE5882575}" type="pres">
      <dgm:prSet presAssocID="{81C380B1-C788-4A60-A105-9A23276C1105}" presName="textRect" presStyleLbl="revTx" presStyleIdx="0" presStyleCnt="2">
        <dgm:presLayoutVars>
          <dgm:chMax val="1"/>
          <dgm:chPref val="1"/>
        </dgm:presLayoutVars>
      </dgm:prSet>
      <dgm:spPr/>
      <dgm:t>
        <a:bodyPr/>
        <a:lstStyle/>
        <a:p>
          <a:endParaRPr lang="en-US"/>
        </a:p>
      </dgm:t>
    </dgm:pt>
    <dgm:pt modelId="{5AE5715D-0993-49BB-8434-4684380C96D4}" type="pres">
      <dgm:prSet presAssocID="{C90E82C9-10AF-4E3C-B85E-108020AEDC50}" presName="sibTrans" presStyleCnt="0"/>
      <dgm:spPr/>
    </dgm:pt>
    <dgm:pt modelId="{90BC96CB-DE4B-4E02-A024-659B5191D03C}" type="pres">
      <dgm:prSet presAssocID="{F3C81C93-0CA2-4D6F-964B-CFAE73664918}" presName="compNode" presStyleCnt="0"/>
      <dgm:spPr/>
    </dgm:pt>
    <dgm:pt modelId="{D99810E3-C1B5-4A5F-A5DF-81E20798A714}" type="pres">
      <dgm:prSet presAssocID="{F3C81C93-0CA2-4D6F-964B-CFAE73664918}" presName="iconBgRect" presStyleLbl="bgShp" presStyleIdx="1" presStyleCnt="2"/>
      <dgm:spPr>
        <a:prstGeom prst="round2DiagRect">
          <a:avLst>
            <a:gd name="adj1" fmla="val 29727"/>
            <a:gd name="adj2" fmla="val 0"/>
          </a:avLst>
        </a:prstGeom>
      </dgm:spPr>
    </dgm:pt>
    <dgm:pt modelId="{4D6F17B1-A07B-44C4-BA79-AF7B9093FD86}" type="pres">
      <dgm:prSet presAssocID="{F3C81C93-0CA2-4D6F-964B-CFAE7366491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Kiosk"/>
        </a:ext>
      </dgm:extLst>
    </dgm:pt>
    <dgm:pt modelId="{02F8F169-8CDE-49DC-932A-BEBBF42FF784}" type="pres">
      <dgm:prSet presAssocID="{F3C81C93-0CA2-4D6F-964B-CFAE73664918}" presName="spaceRect" presStyleCnt="0"/>
      <dgm:spPr/>
    </dgm:pt>
    <dgm:pt modelId="{E26E5647-4B6F-44D8-B9E9-0A8420959778}" type="pres">
      <dgm:prSet presAssocID="{F3C81C93-0CA2-4D6F-964B-CFAE73664918}" presName="textRect" presStyleLbl="revTx" presStyleIdx="1" presStyleCnt="2">
        <dgm:presLayoutVars>
          <dgm:chMax val="1"/>
          <dgm:chPref val="1"/>
        </dgm:presLayoutVars>
      </dgm:prSet>
      <dgm:spPr/>
      <dgm:t>
        <a:bodyPr/>
        <a:lstStyle/>
        <a:p>
          <a:endParaRPr lang="en-US"/>
        </a:p>
      </dgm:t>
    </dgm:pt>
  </dgm:ptLst>
  <dgm:cxnLst>
    <dgm:cxn modelId="{ACEA2838-E83F-4D29-AB6C-425DE85F5E7A}" srcId="{F6BEE3FE-F15A-43C9-B991-056986442EC5}" destId="{81C380B1-C788-4A60-A105-9A23276C1105}" srcOrd="0" destOrd="0" parTransId="{F0410D2F-A170-4409-B9FB-8975158BD55F}" sibTransId="{C90E82C9-10AF-4E3C-B85E-108020AEDC50}"/>
    <dgm:cxn modelId="{02E74768-ED3A-493A-BCCE-7F57683263A4}" srcId="{F6BEE3FE-F15A-43C9-B991-056986442EC5}" destId="{F3C81C93-0CA2-4D6F-964B-CFAE73664918}" srcOrd="1" destOrd="0" parTransId="{6071E109-7D52-45EF-809C-121245597C15}" sibTransId="{C4F69F0B-6594-4650-A8EB-556E02FD70BC}"/>
    <dgm:cxn modelId="{E6365A36-7D89-4245-955F-A00E514743B4}" type="presOf" srcId="{F6BEE3FE-F15A-43C9-B991-056986442EC5}" destId="{03B06091-6805-4747-9F54-4B5E16642AD2}" srcOrd="0" destOrd="0" presId="urn:microsoft.com/office/officeart/2018/5/layout/IconLeafLabelList"/>
    <dgm:cxn modelId="{B10CD492-ED84-4C2F-8680-B06C83AE294B}" type="presOf" srcId="{F3C81C93-0CA2-4D6F-964B-CFAE73664918}" destId="{E26E5647-4B6F-44D8-B9E9-0A8420959778}" srcOrd="0" destOrd="0" presId="urn:microsoft.com/office/officeart/2018/5/layout/IconLeafLabelList"/>
    <dgm:cxn modelId="{63A88F08-7637-4DAE-9B6B-BE10597FC5A0}" type="presOf" srcId="{81C380B1-C788-4A60-A105-9A23276C1105}" destId="{73DB2C32-302E-45D7-BF22-A6BFE5882575}" srcOrd="0" destOrd="0" presId="urn:microsoft.com/office/officeart/2018/5/layout/IconLeafLabelList"/>
    <dgm:cxn modelId="{18EBEDA2-FAF3-4A11-BC9B-C2CF59EADE56}" type="presParOf" srcId="{03B06091-6805-4747-9F54-4B5E16642AD2}" destId="{1FF890F5-C021-4A02-833A-0C3CF1CB2E2A}" srcOrd="0" destOrd="0" presId="urn:microsoft.com/office/officeart/2018/5/layout/IconLeafLabelList"/>
    <dgm:cxn modelId="{D3E8C9C5-7CAE-4735-8001-021C30D0EB92}" type="presParOf" srcId="{1FF890F5-C021-4A02-833A-0C3CF1CB2E2A}" destId="{999EE414-2D5D-402A-96E5-44DA00B742DB}" srcOrd="0" destOrd="0" presId="urn:microsoft.com/office/officeart/2018/5/layout/IconLeafLabelList"/>
    <dgm:cxn modelId="{5B2C461F-7985-42BD-8BB6-4FBB6676C054}" type="presParOf" srcId="{1FF890F5-C021-4A02-833A-0C3CF1CB2E2A}" destId="{92EEF96A-0D6B-428C-AF75-2A9651DF736D}" srcOrd="1" destOrd="0" presId="urn:microsoft.com/office/officeart/2018/5/layout/IconLeafLabelList"/>
    <dgm:cxn modelId="{A44CDB77-9B1D-421F-9006-CF5A5AE9CBC5}" type="presParOf" srcId="{1FF890F5-C021-4A02-833A-0C3CF1CB2E2A}" destId="{0D8B4186-2526-49F3-9349-601791C7BBA0}" srcOrd="2" destOrd="0" presId="urn:microsoft.com/office/officeart/2018/5/layout/IconLeafLabelList"/>
    <dgm:cxn modelId="{28105C3E-0FED-4EB5-9687-FC22F4099B93}" type="presParOf" srcId="{1FF890F5-C021-4A02-833A-0C3CF1CB2E2A}" destId="{73DB2C32-302E-45D7-BF22-A6BFE5882575}" srcOrd="3" destOrd="0" presId="urn:microsoft.com/office/officeart/2018/5/layout/IconLeafLabelList"/>
    <dgm:cxn modelId="{75565367-49FD-4935-9817-9F70B9FABEF2}" type="presParOf" srcId="{03B06091-6805-4747-9F54-4B5E16642AD2}" destId="{5AE5715D-0993-49BB-8434-4684380C96D4}" srcOrd="1" destOrd="0" presId="urn:microsoft.com/office/officeart/2018/5/layout/IconLeafLabelList"/>
    <dgm:cxn modelId="{F0E7DA09-5E7B-4662-B5B1-B55EDACD723D}" type="presParOf" srcId="{03B06091-6805-4747-9F54-4B5E16642AD2}" destId="{90BC96CB-DE4B-4E02-A024-659B5191D03C}" srcOrd="2" destOrd="0" presId="urn:microsoft.com/office/officeart/2018/5/layout/IconLeafLabelList"/>
    <dgm:cxn modelId="{FFB7BB90-0E9C-40A4-9E23-9AA5E1C278D7}" type="presParOf" srcId="{90BC96CB-DE4B-4E02-A024-659B5191D03C}" destId="{D99810E3-C1B5-4A5F-A5DF-81E20798A714}" srcOrd="0" destOrd="0" presId="urn:microsoft.com/office/officeart/2018/5/layout/IconLeafLabelList"/>
    <dgm:cxn modelId="{26892014-FF44-4B8F-BCB0-70817906C344}" type="presParOf" srcId="{90BC96CB-DE4B-4E02-A024-659B5191D03C}" destId="{4D6F17B1-A07B-44C4-BA79-AF7B9093FD86}" srcOrd="1" destOrd="0" presId="urn:microsoft.com/office/officeart/2018/5/layout/IconLeafLabelList"/>
    <dgm:cxn modelId="{82922406-2AB7-4956-8CBF-D4B18F299ED1}" type="presParOf" srcId="{90BC96CB-DE4B-4E02-A024-659B5191D03C}" destId="{02F8F169-8CDE-49DC-932A-BEBBF42FF784}" srcOrd="2" destOrd="0" presId="urn:microsoft.com/office/officeart/2018/5/layout/IconLeafLabelList"/>
    <dgm:cxn modelId="{A9BA5E7E-48EE-474E-A03E-4FBB1BFE54A2}" type="presParOf" srcId="{90BC96CB-DE4B-4E02-A024-659B5191D03C}" destId="{E26E5647-4B6F-44D8-B9E9-0A8420959778}"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2DA588-F6BC-4C97-9060-4C0E424055B8}" type="doc">
      <dgm:prSet loTypeId="urn:microsoft.com/office/officeart/2005/8/layout/default" loCatId="list" qsTypeId="urn:microsoft.com/office/officeart/2005/8/quickstyle/simple2" qsCatId="simple" csTypeId="urn:microsoft.com/office/officeart/2005/8/colors/accent1_2" csCatId="accent1" phldr="1"/>
      <dgm:spPr/>
      <dgm:t>
        <a:bodyPr/>
        <a:lstStyle/>
        <a:p>
          <a:endParaRPr lang="en-US"/>
        </a:p>
      </dgm:t>
    </dgm:pt>
    <dgm:pt modelId="{E5991BFE-D5B1-4414-B6FD-626A8886DFC9}">
      <dgm:prSet/>
      <dgm:spPr/>
      <dgm:t>
        <a:bodyPr/>
        <a:lstStyle/>
        <a:p>
          <a:r>
            <a:rPr lang="en-US" b="1" i="0" dirty="0" err="1"/>
            <a:t>OrderDate</a:t>
          </a:r>
          <a:r>
            <a:rPr lang="en-US" b="1" i="0" dirty="0"/>
            <a:t>:</a:t>
          </a:r>
          <a:r>
            <a:rPr lang="en-US" b="0" i="0" dirty="0"/>
            <a:t> The date when the order was placed.</a:t>
          </a:r>
          <a:endParaRPr lang="en-US" dirty="0"/>
        </a:p>
      </dgm:t>
    </dgm:pt>
    <dgm:pt modelId="{B78D15AA-B019-4058-AEB1-CC9C0CA191D4}" type="parTrans" cxnId="{D7E2761A-557D-425A-B7D1-82723C7079E2}">
      <dgm:prSet/>
      <dgm:spPr/>
      <dgm:t>
        <a:bodyPr/>
        <a:lstStyle/>
        <a:p>
          <a:endParaRPr lang="en-US"/>
        </a:p>
      </dgm:t>
    </dgm:pt>
    <dgm:pt modelId="{83AA5DD8-4C17-49A4-922C-AD0B9F4A1F9F}" type="sibTrans" cxnId="{D7E2761A-557D-425A-B7D1-82723C7079E2}">
      <dgm:prSet/>
      <dgm:spPr/>
      <dgm:t>
        <a:bodyPr/>
        <a:lstStyle/>
        <a:p>
          <a:endParaRPr lang="en-US"/>
        </a:p>
      </dgm:t>
    </dgm:pt>
    <dgm:pt modelId="{2AD690F2-2F0F-4AD7-8FCF-D16369A932D7}">
      <dgm:prSet/>
      <dgm:spPr/>
      <dgm:t>
        <a:bodyPr/>
        <a:lstStyle/>
        <a:p>
          <a:r>
            <a:rPr lang="en-US" b="1" i="0"/>
            <a:t>OrderID:</a:t>
          </a:r>
          <a:r>
            <a:rPr lang="en-US" b="0" i="0"/>
            <a:t> A unique identifier for each order.</a:t>
          </a:r>
          <a:endParaRPr lang="en-US"/>
        </a:p>
      </dgm:t>
    </dgm:pt>
    <dgm:pt modelId="{FF3483DE-0C68-4D35-A9B1-AC5636E399ED}" type="parTrans" cxnId="{8BF06195-6D11-4616-A97C-B83E0C5DB871}">
      <dgm:prSet/>
      <dgm:spPr/>
      <dgm:t>
        <a:bodyPr/>
        <a:lstStyle/>
        <a:p>
          <a:endParaRPr lang="en-US"/>
        </a:p>
      </dgm:t>
    </dgm:pt>
    <dgm:pt modelId="{D49CC28D-6EF7-4861-A8D8-8DE8F769D3F3}" type="sibTrans" cxnId="{8BF06195-6D11-4616-A97C-B83E0C5DB871}">
      <dgm:prSet/>
      <dgm:spPr/>
      <dgm:t>
        <a:bodyPr/>
        <a:lstStyle/>
        <a:p>
          <a:endParaRPr lang="en-US"/>
        </a:p>
      </dgm:t>
    </dgm:pt>
    <dgm:pt modelId="{99BFA734-AF22-44E3-A9A3-E099D2045F3C}">
      <dgm:prSet/>
      <dgm:spPr/>
      <dgm:t>
        <a:bodyPr/>
        <a:lstStyle/>
        <a:p>
          <a:r>
            <a:rPr lang="en-US" b="1" i="0" dirty="0" smtClean="0"/>
            <a:t>Product Category:</a:t>
          </a:r>
          <a:r>
            <a:rPr lang="en-US" b="0" i="0" dirty="0" smtClean="0"/>
            <a:t> Represent the types of Product</a:t>
          </a:r>
          <a:endParaRPr lang="en-US" dirty="0"/>
        </a:p>
      </dgm:t>
    </dgm:pt>
    <dgm:pt modelId="{6E35AE65-92DE-4ADB-AA72-ED7A70DC285A}" type="parTrans" cxnId="{A473E565-B92E-4753-B707-55C9A1C6DD03}">
      <dgm:prSet/>
      <dgm:spPr/>
      <dgm:t>
        <a:bodyPr/>
        <a:lstStyle/>
        <a:p>
          <a:endParaRPr lang="en-US"/>
        </a:p>
      </dgm:t>
    </dgm:pt>
    <dgm:pt modelId="{42D3C5AB-31A0-4C90-BA14-7451DD6C9605}" type="sibTrans" cxnId="{A473E565-B92E-4753-B707-55C9A1C6DD03}">
      <dgm:prSet/>
      <dgm:spPr/>
      <dgm:t>
        <a:bodyPr/>
        <a:lstStyle/>
        <a:p>
          <a:endParaRPr lang="en-US"/>
        </a:p>
      </dgm:t>
    </dgm:pt>
    <dgm:pt modelId="{F362C8A5-E7EE-4B84-993F-295581FF0B4C}">
      <dgm:prSet/>
      <dgm:spPr/>
      <dgm:t>
        <a:bodyPr/>
        <a:lstStyle/>
        <a:p>
          <a:r>
            <a:rPr lang="en-US" b="1" i="0" dirty="0" err="1" smtClean="0"/>
            <a:t>ProductID</a:t>
          </a:r>
          <a:r>
            <a:rPr lang="en-US" b="1" i="0" dirty="0"/>
            <a:t>: </a:t>
          </a:r>
          <a:r>
            <a:rPr lang="en-US" b="0" i="0" dirty="0"/>
            <a:t>A unique identifier for each </a:t>
          </a:r>
          <a:r>
            <a:rPr lang="en-US" b="0" i="0" dirty="0" smtClean="0"/>
            <a:t>product.</a:t>
          </a:r>
          <a:endParaRPr lang="en-US" dirty="0"/>
        </a:p>
      </dgm:t>
    </dgm:pt>
    <dgm:pt modelId="{1350265A-EB6E-4D32-BF4D-DACCEBF27848}" type="parTrans" cxnId="{A8553651-70CB-4835-974F-A5D713368266}">
      <dgm:prSet/>
      <dgm:spPr/>
      <dgm:t>
        <a:bodyPr/>
        <a:lstStyle/>
        <a:p>
          <a:endParaRPr lang="en-US"/>
        </a:p>
      </dgm:t>
    </dgm:pt>
    <dgm:pt modelId="{A7D76EB9-411D-4F35-AF28-BA71DE242235}" type="sibTrans" cxnId="{A8553651-70CB-4835-974F-A5D713368266}">
      <dgm:prSet/>
      <dgm:spPr/>
      <dgm:t>
        <a:bodyPr/>
        <a:lstStyle/>
        <a:p>
          <a:endParaRPr lang="en-US"/>
        </a:p>
      </dgm:t>
    </dgm:pt>
    <dgm:pt modelId="{AADF8E2B-0BD2-4C91-A5FB-9382EA6AFEE4}">
      <dgm:prSet/>
      <dgm:spPr/>
      <dgm:t>
        <a:bodyPr/>
        <a:lstStyle/>
        <a:p>
          <a:r>
            <a:rPr lang="en-US" b="1" i="0" dirty="0" smtClean="0"/>
            <a:t>Price:</a:t>
          </a:r>
          <a:r>
            <a:rPr lang="en-US" b="0" i="0" dirty="0" smtClean="0"/>
            <a:t> Original price of Product.</a:t>
          </a:r>
          <a:endParaRPr lang="en-US" dirty="0"/>
        </a:p>
      </dgm:t>
    </dgm:pt>
    <dgm:pt modelId="{D2828ACD-A29F-40ED-B94F-AC7F4B8DBDFA}" type="parTrans" cxnId="{EC7CFF59-C3DA-4644-A22D-9D598D2B1C04}">
      <dgm:prSet/>
      <dgm:spPr/>
      <dgm:t>
        <a:bodyPr/>
        <a:lstStyle/>
        <a:p>
          <a:endParaRPr lang="en-US"/>
        </a:p>
      </dgm:t>
    </dgm:pt>
    <dgm:pt modelId="{792C6DFC-11B1-43FE-9CE6-B0B172226F34}" type="sibTrans" cxnId="{EC7CFF59-C3DA-4644-A22D-9D598D2B1C04}">
      <dgm:prSet/>
      <dgm:spPr/>
      <dgm:t>
        <a:bodyPr/>
        <a:lstStyle/>
        <a:p>
          <a:endParaRPr lang="en-US"/>
        </a:p>
      </dgm:t>
    </dgm:pt>
    <dgm:pt modelId="{3EDA6D06-2DD7-4453-B3DE-D4C754DDF8AD}">
      <dgm:prSet/>
      <dgm:spPr/>
      <dgm:t>
        <a:bodyPr/>
        <a:lstStyle/>
        <a:p>
          <a:r>
            <a:rPr lang="en-US" b="1" i="0" dirty="0" smtClean="0"/>
            <a:t>Discount Percent:</a:t>
          </a:r>
          <a:r>
            <a:rPr lang="en-US" b="0" i="0" dirty="0" smtClean="0"/>
            <a:t> Discount applied for  Product Cost before Discount.</a:t>
          </a:r>
          <a:endParaRPr lang="en-US" dirty="0"/>
        </a:p>
      </dgm:t>
    </dgm:pt>
    <dgm:pt modelId="{A6FB0B58-05F8-431C-B89C-7C1019DFA192}" type="parTrans" cxnId="{706DE8C7-3C8E-47A1-BF83-F51D7E371EA7}">
      <dgm:prSet/>
      <dgm:spPr/>
      <dgm:t>
        <a:bodyPr/>
        <a:lstStyle/>
        <a:p>
          <a:endParaRPr lang="en-US"/>
        </a:p>
      </dgm:t>
    </dgm:pt>
    <dgm:pt modelId="{BA6000BE-7082-4F85-85C2-281A6F547487}" type="sibTrans" cxnId="{706DE8C7-3C8E-47A1-BF83-F51D7E371EA7}">
      <dgm:prSet/>
      <dgm:spPr/>
      <dgm:t>
        <a:bodyPr/>
        <a:lstStyle/>
        <a:p>
          <a:endParaRPr lang="en-US"/>
        </a:p>
      </dgm:t>
    </dgm:pt>
    <dgm:pt modelId="{B0063298-C867-4092-88AF-8DAFE6631B82}">
      <dgm:prSet/>
      <dgm:spPr/>
      <dgm:t>
        <a:bodyPr/>
        <a:lstStyle/>
        <a:p>
          <a:r>
            <a:rPr lang="en-US" b="1" i="0" dirty="0" smtClean="0"/>
            <a:t>Region:</a:t>
          </a:r>
          <a:r>
            <a:rPr lang="en-US" b="0" i="0" dirty="0" smtClean="0"/>
            <a:t> </a:t>
          </a:r>
          <a:r>
            <a:rPr lang="en-US" b="0" i="0" dirty="0"/>
            <a:t>The geographical area where the customer is located.</a:t>
          </a:r>
          <a:endParaRPr lang="en-US" dirty="0"/>
        </a:p>
      </dgm:t>
    </dgm:pt>
    <dgm:pt modelId="{64F386ED-9D7E-4B95-9503-3591F42CA117}" type="parTrans" cxnId="{97C94D40-4510-4D39-9041-E1FB1D580448}">
      <dgm:prSet/>
      <dgm:spPr/>
      <dgm:t>
        <a:bodyPr/>
        <a:lstStyle/>
        <a:p>
          <a:endParaRPr lang="en-US"/>
        </a:p>
      </dgm:t>
    </dgm:pt>
    <dgm:pt modelId="{8EBDA97A-D94D-4E7A-920E-B1338EEACB7E}" type="sibTrans" cxnId="{97C94D40-4510-4D39-9041-E1FB1D580448}">
      <dgm:prSet/>
      <dgm:spPr/>
      <dgm:t>
        <a:bodyPr/>
        <a:lstStyle/>
        <a:p>
          <a:endParaRPr lang="en-US"/>
        </a:p>
      </dgm:t>
    </dgm:pt>
    <dgm:pt modelId="{415932E5-9261-4928-A557-6A8449A0E577}">
      <dgm:prSet/>
      <dgm:spPr/>
      <dgm:t>
        <a:bodyPr/>
        <a:lstStyle/>
        <a:p>
          <a:r>
            <a:rPr lang="en-US" b="1" i="0" dirty="0" smtClean="0"/>
            <a:t>Quantity Sold: </a:t>
          </a:r>
          <a:r>
            <a:rPr lang="en-US" b="0" i="0" dirty="0" smtClean="0"/>
            <a:t>Number</a:t>
          </a:r>
          <a:r>
            <a:rPr lang="en-US" b="1" i="0" dirty="0" smtClean="0"/>
            <a:t> </a:t>
          </a:r>
          <a:r>
            <a:rPr lang="en-US" b="0" i="0" dirty="0" smtClean="0"/>
            <a:t>of Unit Sold</a:t>
          </a:r>
          <a:endParaRPr lang="en-US" b="0" dirty="0"/>
        </a:p>
      </dgm:t>
    </dgm:pt>
    <dgm:pt modelId="{4A766681-CFEE-4303-A5D1-57DB3D911BA6}" type="parTrans" cxnId="{0239CB1D-7EAF-48FB-8048-EBD1C0A30DB5}">
      <dgm:prSet/>
      <dgm:spPr/>
      <dgm:t>
        <a:bodyPr/>
        <a:lstStyle/>
        <a:p>
          <a:endParaRPr lang="en-US"/>
        </a:p>
      </dgm:t>
    </dgm:pt>
    <dgm:pt modelId="{A5DA78AA-87C5-4E8F-9415-1E522CB9A9F6}" type="sibTrans" cxnId="{0239CB1D-7EAF-48FB-8048-EBD1C0A30DB5}">
      <dgm:prSet/>
      <dgm:spPr/>
      <dgm:t>
        <a:bodyPr/>
        <a:lstStyle/>
        <a:p>
          <a:endParaRPr lang="en-US"/>
        </a:p>
      </dgm:t>
    </dgm:pt>
    <dgm:pt modelId="{7626766D-7BDE-4CC4-B39E-EA651B156356}">
      <dgm:prSet/>
      <dgm:spPr/>
      <dgm:t>
        <a:bodyPr/>
        <a:lstStyle/>
        <a:p>
          <a:r>
            <a:rPr lang="en-US" b="1" i="0" dirty="0" smtClean="0"/>
            <a:t>Payment  Method:</a:t>
          </a:r>
          <a:r>
            <a:rPr lang="en-US" b="0" i="0" dirty="0" smtClean="0"/>
            <a:t> mode of Payment (UPI, Card).</a:t>
          </a:r>
          <a:endParaRPr lang="en-US" dirty="0"/>
        </a:p>
      </dgm:t>
    </dgm:pt>
    <dgm:pt modelId="{56B11ACF-2B79-4340-A356-BD74FC13BE66}" type="parTrans" cxnId="{F3054C38-9214-48C7-AC03-749C9ADE104A}">
      <dgm:prSet/>
      <dgm:spPr/>
      <dgm:t>
        <a:bodyPr/>
        <a:lstStyle/>
        <a:p>
          <a:endParaRPr lang="en-US"/>
        </a:p>
      </dgm:t>
    </dgm:pt>
    <dgm:pt modelId="{5B4059E9-A434-4525-81D7-6AC50F8E43E9}" type="sibTrans" cxnId="{F3054C38-9214-48C7-AC03-749C9ADE104A}">
      <dgm:prSet/>
      <dgm:spPr/>
      <dgm:t>
        <a:bodyPr/>
        <a:lstStyle/>
        <a:p>
          <a:endParaRPr lang="en-US"/>
        </a:p>
      </dgm:t>
    </dgm:pt>
    <dgm:pt modelId="{843BD9AE-66F9-4FF2-9029-73430A9CDF8E}">
      <dgm:prSet/>
      <dgm:spPr/>
      <dgm:t>
        <a:bodyPr/>
        <a:lstStyle/>
        <a:p>
          <a:r>
            <a:rPr lang="en-US" b="1" i="0" dirty="0" smtClean="0"/>
            <a:t>Total Revenue:</a:t>
          </a:r>
          <a:r>
            <a:rPr lang="en-US" b="0" i="0" dirty="0" smtClean="0"/>
            <a:t> Revenue Generated from each order</a:t>
          </a:r>
          <a:endParaRPr lang="en-US" dirty="0"/>
        </a:p>
      </dgm:t>
    </dgm:pt>
    <dgm:pt modelId="{1E551B0E-56BD-4DD7-857B-F1F720374ADC}" type="parTrans" cxnId="{C5A50069-43D2-414C-9C27-AF7AB9A1D7C2}">
      <dgm:prSet/>
      <dgm:spPr/>
      <dgm:t>
        <a:bodyPr/>
        <a:lstStyle/>
        <a:p>
          <a:endParaRPr lang="en-US"/>
        </a:p>
      </dgm:t>
    </dgm:pt>
    <dgm:pt modelId="{9EBCD69A-6A3B-42E2-845A-E00C2A4E08DA}" type="sibTrans" cxnId="{C5A50069-43D2-414C-9C27-AF7AB9A1D7C2}">
      <dgm:prSet/>
      <dgm:spPr/>
      <dgm:t>
        <a:bodyPr/>
        <a:lstStyle/>
        <a:p>
          <a:endParaRPr lang="en-US"/>
        </a:p>
      </dgm:t>
    </dgm:pt>
    <dgm:pt modelId="{BB0437A2-E00F-467B-9129-E3081E33D6AA}" type="pres">
      <dgm:prSet presAssocID="{552DA588-F6BC-4C97-9060-4C0E424055B8}" presName="diagram" presStyleCnt="0">
        <dgm:presLayoutVars>
          <dgm:dir/>
          <dgm:resizeHandles val="exact"/>
        </dgm:presLayoutVars>
      </dgm:prSet>
      <dgm:spPr/>
      <dgm:t>
        <a:bodyPr/>
        <a:lstStyle/>
        <a:p>
          <a:endParaRPr lang="en-US"/>
        </a:p>
      </dgm:t>
    </dgm:pt>
    <dgm:pt modelId="{60AB2E61-2FAA-4B8C-A01A-72D92620368E}" type="pres">
      <dgm:prSet presAssocID="{E5991BFE-D5B1-4414-B6FD-626A8886DFC9}" presName="node" presStyleLbl="node1" presStyleIdx="0" presStyleCnt="10">
        <dgm:presLayoutVars>
          <dgm:bulletEnabled val="1"/>
        </dgm:presLayoutVars>
      </dgm:prSet>
      <dgm:spPr/>
      <dgm:t>
        <a:bodyPr/>
        <a:lstStyle/>
        <a:p>
          <a:endParaRPr lang="en-US"/>
        </a:p>
      </dgm:t>
    </dgm:pt>
    <dgm:pt modelId="{44BB6954-E8EC-4452-A7A3-9934AE8C95D2}" type="pres">
      <dgm:prSet presAssocID="{83AA5DD8-4C17-49A4-922C-AD0B9F4A1F9F}" presName="sibTrans" presStyleCnt="0"/>
      <dgm:spPr/>
      <dgm:t>
        <a:bodyPr/>
        <a:lstStyle/>
        <a:p>
          <a:endParaRPr lang="en-US"/>
        </a:p>
      </dgm:t>
    </dgm:pt>
    <dgm:pt modelId="{08D02025-923F-46E1-B8C4-F7AEE856E09A}" type="pres">
      <dgm:prSet presAssocID="{2AD690F2-2F0F-4AD7-8FCF-D16369A932D7}" presName="node" presStyleLbl="node1" presStyleIdx="1" presStyleCnt="10">
        <dgm:presLayoutVars>
          <dgm:bulletEnabled val="1"/>
        </dgm:presLayoutVars>
      </dgm:prSet>
      <dgm:spPr/>
      <dgm:t>
        <a:bodyPr/>
        <a:lstStyle/>
        <a:p>
          <a:endParaRPr lang="en-US"/>
        </a:p>
      </dgm:t>
    </dgm:pt>
    <dgm:pt modelId="{2FD1AC65-9956-4E09-B81B-C37525EE3D86}" type="pres">
      <dgm:prSet presAssocID="{D49CC28D-6EF7-4861-A8D8-8DE8F769D3F3}" presName="sibTrans" presStyleCnt="0"/>
      <dgm:spPr/>
      <dgm:t>
        <a:bodyPr/>
        <a:lstStyle/>
        <a:p>
          <a:endParaRPr lang="en-US"/>
        </a:p>
      </dgm:t>
    </dgm:pt>
    <dgm:pt modelId="{AEC09380-1E5A-4120-9D59-F6420C2163AD}" type="pres">
      <dgm:prSet presAssocID="{99BFA734-AF22-44E3-A9A3-E099D2045F3C}" presName="node" presStyleLbl="node1" presStyleIdx="2" presStyleCnt="10">
        <dgm:presLayoutVars>
          <dgm:bulletEnabled val="1"/>
        </dgm:presLayoutVars>
      </dgm:prSet>
      <dgm:spPr/>
      <dgm:t>
        <a:bodyPr/>
        <a:lstStyle/>
        <a:p>
          <a:endParaRPr lang="en-US"/>
        </a:p>
      </dgm:t>
    </dgm:pt>
    <dgm:pt modelId="{65FE04E4-E8D9-4B67-95C8-506574BA2258}" type="pres">
      <dgm:prSet presAssocID="{42D3C5AB-31A0-4C90-BA14-7451DD6C9605}" presName="sibTrans" presStyleCnt="0"/>
      <dgm:spPr/>
      <dgm:t>
        <a:bodyPr/>
        <a:lstStyle/>
        <a:p>
          <a:endParaRPr lang="en-US"/>
        </a:p>
      </dgm:t>
    </dgm:pt>
    <dgm:pt modelId="{9763626B-149B-493E-9068-CE9C7C86FE86}" type="pres">
      <dgm:prSet presAssocID="{F362C8A5-E7EE-4B84-993F-295581FF0B4C}" presName="node" presStyleLbl="node1" presStyleIdx="3" presStyleCnt="10">
        <dgm:presLayoutVars>
          <dgm:bulletEnabled val="1"/>
        </dgm:presLayoutVars>
      </dgm:prSet>
      <dgm:spPr/>
      <dgm:t>
        <a:bodyPr/>
        <a:lstStyle/>
        <a:p>
          <a:endParaRPr lang="en-US"/>
        </a:p>
      </dgm:t>
    </dgm:pt>
    <dgm:pt modelId="{D6FB0BE9-1CE1-480E-B51E-4821D69F3935}" type="pres">
      <dgm:prSet presAssocID="{A7D76EB9-411D-4F35-AF28-BA71DE242235}" presName="sibTrans" presStyleCnt="0"/>
      <dgm:spPr/>
      <dgm:t>
        <a:bodyPr/>
        <a:lstStyle/>
        <a:p>
          <a:endParaRPr lang="en-US"/>
        </a:p>
      </dgm:t>
    </dgm:pt>
    <dgm:pt modelId="{7F4DA138-6620-4357-B650-00A7735401E0}" type="pres">
      <dgm:prSet presAssocID="{AADF8E2B-0BD2-4C91-A5FB-9382EA6AFEE4}" presName="node" presStyleLbl="node1" presStyleIdx="4" presStyleCnt="10">
        <dgm:presLayoutVars>
          <dgm:bulletEnabled val="1"/>
        </dgm:presLayoutVars>
      </dgm:prSet>
      <dgm:spPr/>
      <dgm:t>
        <a:bodyPr/>
        <a:lstStyle/>
        <a:p>
          <a:endParaRPr lang="en-US"/>
        </a:p>
      </dgm:t>
    </dgm:pt>
    <dgm:pt modelId="{F0A76ADC-E078-4467-88DA-241794F6CEAB}" type="pres">
      <dgm:prSet presAssocID="{792C6DFC-11B1-43FE-9CE6-B0B172226F34}" presName="sibTrans" presStyleCnt="0"/>
      <dgm:spPr/>
      <dgm:t>
        <a:bodyPr/>
        <a:lstStyle/>
        <a:p>
          <a:endParaRPr lang="en-US"/>
        </a:p>
      </dgm:t>
    </dgm:pt>
    <dgm:pt modelId="{9A155C91-F90C-4F32-99A2-B7137E116E1C}" type="pres">
      <dgm:prSet presAssocID="{3EDA6D06-2DD7-4453-B3DE-D4C754DDF8AD}" presName="node" presStyleLbl="node1" presStyleIdx="5" presStyleCnt="10" custAng="0">
        <dgm:presLayoutVars>
          <dgm:bulletEnabled val="1"/>
        </dgm:presLayoutVars>
      </dgm:prSet>
      <dgm:spPr/>
      <dgm:t>
        <a:bodyPr/>
        <a:lstStyle/>
        <a:p>
          <a:endParaRPr lang="en-US"/>
        </a:p>
      </dgm:t>
    </dgm:pt>
    <dgm:pt modelId="{FA39294C-CDCD-458E-82DB-4FC9C2289FA9}" type="pres">
      <dgm:prSet presAssocID="{BA6000BE-7082-4F85-85C2-281A6F547487}" presName="sibTrans" presStyleCnt="0"/>
      <dgm:spPr/>
      <dgm:t>
        <a:bodyPr/>
        <a:lstStyle/>
        <a:p>
          <a:endParaRPr lang="en-US"/>
        </a:p>
      </dgm:t>
    </dgm:pt>
    <dgm:pt modelId="{10B622A9-EAC9-4A22-8407-5E6246F232A3}" type="pres">
      <dgm:prSet presAssocID="{B0063298-C867-4092-88AF-8DAFE6631B82}" presName="node" presStyleLbl="node1" presStyleIdx="6" presStyleCnt="10">
        <dgm:presLayoutVars>
          <dgm:bulletEnabled val="1"/>
        </dgm:presLayoutVars>
      </dgm:prSet>
      <dgm:spPr/>
      <dgm:t>
        <a:bodyPr/>
        <a:lstStyle/>
        <a:p>
          <a:endParaRPr lang="en-US"/>
        </a:p>
      </dgm:t>
    </dgm:pt>
    <dgm:pt modelId="{0E024E38-7C20-4E61-BA0F-4E797A71EE3A}" type="pres">
      <dgm:prSet presAssocID="{8EBDA97A-D94D-4E7A-920E-B1338EEACB7E}" presName="sibTrans" presStyleCnt="0"/>
      <dgm:spPr/>
      <dgm:t>
        <a:bodyPr/>
        <a:lstStyle/>
        <a:p>
          <a:endParaRPr lang="en-US"/>
        </a:p>
      </dgm:t>
    </dgm:pt>
    <dgm:pt modelId="{5B6E5E53-3468-41C4-8E2A-1FE70C767D67}" type="pres">
      <dgm:prSet presAssocID="{415932E5-9261-4928-A557-6A8449A0E577}" presName="node" presStyleLbl="node1" presStyleIdx="7" presStyleCnt="10">
        <dgm:presLayoutVars>
          <dgm:bulletEnabled val="1"/>
        </dgm:presLayoutVars>
      </dgm:prSet>
      <dgm:spPr/>
      <dgm:t>
        <a:bodyPr/>
        <a:lstStyle/>
        <a:p>
          <a:endParaRPr lang="en-US"/>
        </a:p>
      </dgm:t>
    </dgm:pt>
    <dgm:pt modelId="{236FB44D-246A-48BE-9075-51D42342CAB2}" type="pres">
      <dgm:prSet presAssocID="{A5DA78AA-87C5-4E8F-9415-1E522CB9A9F6}" presName="sibTrans" presStyleCnt="0"/>
      <dgm:spPr/>
      <dgm:t>
        <a:bodyPr/>
        <a:lstStyle/>
        <a:p>
          <a:endParaRPr lang="en-US"/>
        </a:p>
      </dgm:t>
    </dgm:pt>
    <dgm:pt modelId="{8CD8AD97-5882-435A-8ACF-F4C4B0DFA5FE}" type="pres">
      <dgm:prSet presAssocID="{7626766D-7BDE-4CC4-B39E-EA651B156356}" presName="node" presStyleLbl="node1" presStyleIdx="8" presStyleCnt="10">
        <dgm:presLayoutVars>
          <dgm:bulletEnabled val="1"/>
        </dgm:presLayoutVars>
      </dgm:prSet>
      <dgm:spPr/>
      <dgm:t>
        <a:bodyPr/>
        <a:lstStyle/>
        <a:p>
          <a:endParaRPr lang="en-US"/>
        </a:p>
      </dgm:t>
    </dgm:pt>
    <dgm:pt modelId="{99598BD3-370C-488E-B75D-8FA78F3C251B}" type="pres">
      <dgm:prSet presAssocID="{5B4059E9-A434-4525-81D7-6AC50F8E43E9}" presName="sibTrans" presStyleCnt="0"/>
      <dgm:spPr/>
      <dgm:t>
        <a:bodyPr/>
        <a:lstStyle/>
        <a:p>
          <a:endParaRPr lang="en-US"/>
        </a:p>
      </dgm:t>
    </dgm:pt>
    <dgm:pt modelId="{032D97AA-416D-41A9-8F0C-8A406708B49D}" type="pres">
      <dgm:prSet presAssocID="{843BD9AE-66F9-4FF2-9029-73430A9CDF8E}" presName="node" presStyleLbl="node1" presStyleIdx="9" presStyleCnt="10">
        <dgm:presLayoutVars>
          <dgm:bulletEnabled val="1"/>
        </dgm:presLayoutVars>
      </dgm:prSet>
      <dgm:spPr/>
      <dgm:t>
        <a:bodyPr/>
        <a:lstStyle/>
        <a:p>
          <a:endParaRPr lang="en-US"/>
        </a:p>
      </dgm:t>
    </dgm:pt>
  </dgm:ptLst>
  <dgm:cxnLst>
    <dgm:cxn modelId="{A8553651-70CB-4835-974F-A5D713368266}" srcId="{552DA588-F6BC-4C97-9060-4C0E424055B8}" destId="{F362C8A5-E7EE-4B84-993F-295581FF0B4C}" srcOrd="3" destOrd="0" parTransId="{1350265A-EB6E-4D32-BF4D-DACCEBF27848}" sibTransId="{A7D76EB9-411D-4F35-AF28-BA71DE242235}"/>
    <dgm:cxn modelId="{F3054C38-9214-48C7-AC03-749C9ADE104A}" srcId="{552DA588-F6BC-4C97-9060-4C0E424055B8}" destId="{7626766D-7BDE-4CC4-B39E-EA651B156356}" srcOrd="8" destOrd="0" parTransId="{56B11ACF-2B79-4340-A356-BD74FC13BE66}" sibTransId="{5B4059E9-A434-4525-81D7-6AC50F8E43E9}"/>
    <dgm:cxn modelId="{706DE8C7-3C8E-47A1-BF83-F51D7E371EA7}" srcId="{552DA588-F6BC-4C97-9060-4C0E424055B8}" destId="{3EDA6D06-2DD7-4453-B3DE-D4C754DDF8AD}" srcOrd="5" destOrd="0" parTransId="{A6FB0B58-05F8-431C-B89C-7C1019DFA192}" sibTransId="{BA6000BE-7082-4F85-85C2-281A6F547487}"/>
    <dgm:cxn modelId="{C5A50069-43D2-414C-9C27-AF7AB9A1D7C2}" srcId="{552DA588-F6BC-4C97-9060-4C0E424055B8}" destId="{843BD9AE-66F9-4FF2-9029-73430A9CDF8E}" srcOrd="9" destOrd="0" parTransId="{1E551B0E-56BD-4DD7-857B-F1F720374ADC}" sibTransId="{9EBCD69A-6A3B-42E2-845A-E00C2A4E08DA}"/>
    <dgm:cxn modelId="{D7E2761A-557D-425A-B7D1-82723C7079E2}" srcId="{552DA588-F6BC-4C97-9060-4C0E424055B8}" destId="{E5991BFE-D5B1-4414-B6FD-626A8886DFC9}" srcOrd="0" destOrd="0" parTransId="{B78D15AA-B019-4058-AEB1-CC9C0CA191D4}" sibTransId="{83AA5DD8-4C17-49A4-922C-AD0B9F4A1F9F}"/>
    <dgm:cxn modelId="{0239CB1D-7EAF-48FB-8048-EBD1C0A30DB5}" srcId="{552DA588-F6BC-4C97-9060-4C0E424055B8}" destId="{415932E5-9261-4928-A557-6A8449A0E577}" srcOrd="7" destOrd="0" parTransId="{4A766681-CFEE-4303-A5D1-57DB3D911BA6}" sibTransId="{A5DA78AA-87C5-4E8F-9415-1E522CB9A9F6}"/>
    <dgm:cxn modelId="{D7CAE1D1-C62A-42E1-BD31-C9F8296A4F7E}" type="presOf" srcId="{415932E5-9261-4928-A557-6A8449A0E577}" destId="{5B6E5E53-3468-41C4-8E2A-1FE70C767D67}" srcOrd="0" destOrd="0" presId="urn:microsoft.com/office/officeart/2005/8/layout/default"/>
    <dgm:cxn modelId="{5CF79ECE-47EE-46D7-9EBC-94012E997B9F}" type="presOf" srcId="{7626766D-7BDE-4CC4-B39E-EA651B156356}" destId="{8CD8AD97-5882-435A-8ACF-F4C4B0DFA5FE}" srcOrd="0" destOrd="0" presId="urn:microsoft.com/office/officeart/2005/8/layout/default"/>
    <dgm:cxn modelId="{25820DCB-47FA-4BE8-A52C-DB638F66B476}" type="presOf" srcId="{2AD690F2-2F0F-4AD7-8FCF-D16369A932D7}" destId="{08D02025-923F-46E1-B8C4-F7AEE856E09A}" srcOrd="0" destOrd="0" presId="urn:microsoft.com/office/officeart/2005/8/layout/default"/>
    <dgm:cxn modelId="{8FE8767D-1341-4CB9-B15C-514029E604B9}" type="presOf" srcId="{E5991BFE-D5B1-4414-B6FD-626A8886DFC9}" destId="{60AB2E61-2FAA-4B8C-A01A-72D92620368E}" srcOrd="0" destOrd="0" presId="urn:microsoft.com/office/officeart/2005/8/layout/default"/>
    <dgm:cxn modelId="{076F3376-AAD6-44B9-8508-42E2D97F80DB}" type="presOf" srcId="{552DA588-F6BC-4C97-9060-4C0E424055B8}" destId="{BB0437A2-E00F-467B-9129-E3081E33D6AA}" srcOrd="0" destOrd="0" presId="urn:microsoft.com/office/officeart/2005/8/layout/default"/>
    <dgm:cxn modelId="{8BF06195-6D11-4616-A97C-B83E0C5DB871}" srcId="{552DA588-F6BC-4C97-9060-4C0E424055B8}" destId="{2AD690F2-2F0F-4AD7-8FCF-D16369A932D7}" srcOrd="1" destOrd="0" parTransId="{FF3483DE-0C68-4D35-A9B1-AC5636E399ED}" sibTransId="{D49CC28D-6EF7-4861-A8D8-8DE8F769D3F3}"/>
    <dgm:cxn modelId="{7BFD944B-7192-43F8-A398-8CBCB7DED67E}" type="presOf" srcId="{843BD9AE-66F9-4FF2-9029-73430A9CDF8E}" destId="{032D97AA-416D-41A9-8F0C-8A406708B49D}" srcOrd="0" destOrd="0" presId="urn:microsoft.com/office/officeart/2005/8/layout/default"/>
    <dgm:cxn modelId="{8721AC6E-C196-4E32-9AD8-EA524E9C3413}" type="presOf" srcId="{B0063298-C867-4092-88AF-8DAFE6631B82}" destId="{10B622A9-EAC9-4A22-8407-5E6246F232A3}" srcOrd="0" destOrd="0" presId="urn:microsoft.com/office/officeart/2005/8/layout/default"/>
    <dgm:cxn modelId="{97C94D40-4510-4D39-9041-E1FB1D580448}" srcId="{552DA588-F6BC-4C97-9060-4C0E424055B8}" destId="{B0063298-C867-4092-88AF-8DAFE6631B82}" srcOrd="6" destOrd="0" parTransId="{64F386ED-9D7E-4B95-9503-3591F42CA117}" sibTransId="{8EBDA97A-D94D-4E7A-920E-B1338EEACB7E}"/>
    <dgm:cxn modelId="{6391CFBD-2466-4727-8A58-93801420D9D7}" type="presOf" srcId="{F362C8A5-E7EE-4B84-993F-295581FF0B4C}" destId="{9763626B-149B-493E-9068-CE9C7C86FE86}" srcOrd="0" destOrd="0" presId="urn:microsoft.com/office/officeart/2005/8/layout/default"/>
    <dgm:cxn modelId="{EC7CFF59-C3DA-4644-A22D-9D598D2B1C04}" srcId="{552DA588-F6BC-4C97-9060-4C0E424055B8}" destId="{AADF8E2B-0BD2-4C91-A5FB-9382EA6AFEE4}" srcOrd="4" destOrd="0" parTransId="{D2828ACD-A29F-40ED-B94F-AC7F4B8DBDFA}" sibTransId="{792C6DFC-11B1-43FE-9CE6-B0B172226F34}"/>
    <dgm:cxn modelId="{A473E565-B92E-4753-B707-55C9A1C6DD03}" srcId="{552DA588-F6BC-4C97-9060-4C0E424055B8}" destId="{99BFA734-AF22-44E3-A9A3-E099D2045F3C}" srcOrd="2" destOrd="0" parTransId="{6E35AE65-92DE-4ADB-AA72-ED7A70DC285A}" sibTransId="{42D3C5AB-31A0-4C90-BA14-7451DD6C9605}"/>
    <dgm:cxn modelId="{5BAB67F6-1A72-408C-89F7-CFE0B2F7BE2C}" type="presOf" srcId="{99BFA734-AF22-44E3-A9A3-E099D2045F3C}" destId="{AEC09380-1E5A-4120-9D59-F6420C2163AD}" srcOrd="0" destOrd="0" presId="urn:microsoft.com/office/officeart/2005/8/layout/default"/>
    <dgm:cxn modelId="{7BD04C81-ADC2-460A-8658-CD9E93F282BE}" type="presOf" srcId="{3EDA6D06-2DD7-4453-B3DE-D4C754DDF8AD}" destId="{9A155C91-F90C-4F32-99A2-B7137E116E1C}" srcOrd="0" destOrd="0" presId="urn:microsoft.com/office/officeart/2005/8/layout/default"/>
    <dgm:cxn modelId="{77C874FC-D807-4E6C-951D-CD9901139594}" type="presOf" srcId="{AADF8E2B-0BD2-4C91-A5FB-9382EA6AFEE4}" destId="{7F4DA138-6620-4357-B650-00A7735401E0}" srcOrd="0" destOrd="0" presId="urn:microsoft.com/office/officeart/2005/8/layout/default"/>
    <dgm:cxn modelId="{AD9CC3E4-F64C-40C0-97E3-8E0EC2D4A4CE}" type="presParOf" srcId="{BB0437A2-E00F-467B-9129-E3081E33D6AA}" destId="{60AB2E61-2FAA-4B8C-A01A-72D92620368E}" srcOrd="0" destOrd="0" presId="urn:microsoft.com/office/officeart/2005/8/layout/default"/>
    <dgm:cxn modelId="{8EAE13D5-07C5-4774-B74F-7AAC53E4A46F}" type="presParOf" srcId="{BB0437A2-E00F-467B-9129-E3081E33D6AA}" destId="{44BB6954-E8EC-4452-A7A3-9934AE8C95D2}" srcOrd="1" destOrd="0" presId="urn:microsoft.com/office/officeart/2005/8/layout/default"/>
    <dgm:cxn modelId="{1B1F4235-2846-4C3C-BB3C-6A65E624547E}" type="presParOf" srcId="{BB0437A2-E00F-467B-9129-E3081E33D6AA}" destId="{08D02025-923F-46E1-B8C4-F7AEE856E09A}" srcOrd="2" destOrd="0" presId="urn:microsoft.com/office/officeart/2005/8/layout/default"/>
    <dgm:cxn modelId="{B06950AB-A508-4282-AE61-14950C76C521}" type="presParOf" srcId="{BB0437A2-E00F-467B-9129-E3081E33D6AA}" destId="{2FD1AC65-9956-4E09-B81B-C37525EE3D86}" srcOrd="3" destOrd="0" presId="urn:microsoft.com/office/officeart/2005/8/layout/default"/>
    <dgm:cxn modelId="{51FE7197-DEBF-4F96-B6A1-77DC0FBDEC2A}" type="presParOf" srcId="{BB0437A2-E00F-467B-9129-E3081E33D6AA}" destId="{AEC09380-1E5A-4120-9D59-F6420C2163AD}" srcOrd="4" destOrd="0" presId="urn:microsoft.com/office/officeart/2005/8/layout/default"/>
    <dgm:cxn modelId="{89FAB7A1-72FC-4699-9D80-0BAFA29606B9}" type="presParOf" srcId="{BB0437A2-E00F-467B-9129-E3081E33D6AA}" destId="{65FE04E4-E8D9-4B67-95C8-506574BA2258}" srcOrd="5" destOrd="0" presId="urn:microsoft.com/office/officeart/2005/8/layout/default"/>
    <dgm:cxn modelId="{CF226B63-1449-45F0-ACBA-DB6634F45DD7}" type="presParOf" srcId="{BB0437A2-E00F-467B-9129-E3081E33D6AA}" destId="{9763626B-149B-493E-9068-CE9C7C86FE86}" srcOrd="6" destOrd="0" presId="urn:microsoft.com/office/officeart/2005/8/layout/default"/>
    <dgm:cxn modelId="{6E611FC1-80AB-447A-A229-EDD5159BE124}" type="presParOf" srcId="{BB0437A2-E00F-467B-9129-E3081E33D6AA}" destId="{D6FB0BE9-1CE1-480E-B51E-4821D69F3935}" srcOrd="7" destOrd="0" presId="urn:microsoft.com/office/officeart/2005/8/layout/default"/>
    <dgm:cxn modelId="{22E9DB48-A547-44CA-8810-7DC476C3AFCA}" type="presParOf" srcId="{BB0437A2-E00F-467B-9129-E3081E33D6AA}" destId="{7F4DA138-6620-4357-B650-00A7735401E0}" srcOrd="8" destOrd="0" presId="urn:microsoft.com/office/officeart/2005/8/layout/default"/>
    <dgm:cxn modelId="{39F7AB79-2A8C-41FA-A9E5-C09EB1EE1762}" type="presParOf" srcId="{BB0437A2-E00F-467B-9129-E3081E33D6AA}" destId="{F0A76ADC-E078-4467-88DA-241794F6CEAB}" srcOrd="9" destOrd="0" presId="urn:microsoft.com/office/officeart/2005/8/layout/default"/>
    <dgm:cxn modelId="{D1AB207D-CBB0-4CDF-AEDA-29CDA86B5EAB}" type="presParOf" srcId="{BB0437A2-E00F-467B-9129-E3081E33D6AA}" destId="{9A155C91-F90C-4F32-99A2-B7137E116E1C}" srcOrd="10" destOrd="0" presId="urn:microsoft.com/office/officeart/2005/8/layout/default"/>
    <dgm:cxn modelId="{B1566764-79D3-4E9C-8322-8A5618610134}" type="presParOf" srcId="{BB0437A2-E00F-467B-9129-E3081E33D6AA}" destId="{FA39294C-CDCD-458E-82DB-4FC9C2289FA9}" srcOrd="11" destOrd="0" presId="urn:microsoft.com/office/officeart/2005/8/layout/default"/>
    <dgm:cxn modelId="{823A2FAE-2456-43DE-8BCA-BD57B8DB8809}" type="presParOf" srcId="{BB0437A2-E00F-467B-9129-E3081E33D6AA}" destId="{10B622A9-EAC9-4A22-8407-5E6246F232A3}" srcOrd="12" destOrd="0" presId="urn:microsoft.com/office/officeart/2005/8/layout/default"/>
    <dgm:cxn modelId="{558B5894-CEC1-4EEB-8100-E64A7E23372E}" type="presParOf" srcId="{BB0437A2-E00F-467B-9129-E3081E33D6AA}" destId="{0E024E38-7C20-4E61-BA0F-4E797A71EE3A}" srcOrd="13" destOrd="0" presId="urn:microsoft.com/office/officeart/2005/8/layout/default"/>
    <dgm:cxn modelId="{7D0C49A8-3144-4AB0-B42D-9DEA3C75EDBF}" type="presParOf" srcId="{BB0437A2-E00F-467B-9129-E3081E33D6AA}" destId="{5B6E5E53-3468-41C4-8E2A-1FE70C767D67}" srcOrd="14" destOrd="0" presId="urn:microsoft.com/office/officeart/2005/8/layout/default"/>
    <dgm:cxn modelId="{957FD374-D6DA-41BD-B1F6-A90ADB8381E0}" type="presParOf" srcId="{BB0437A2-E00F-467B-9129-E3081E33D6AA}" destId="{236FB44D-246A-48BE-9075-51D42342CAB2}" srcOrd="15" destOrd="0" presId="urn:microsoft.com/office/officeart/2005/8/layout/default"/>
    <dgm:cxn modelId="{8D0F152A-44A1-40F0-B061-3E4B171878BD}" type="presParOf" srcId="{BB0437A2-E00F-467B-9129-E3081E33D6AA}" destId="{8CD8AD97-5882-435A-8ACF-F4C4B0DFA5FE}" srcOrd="16" destOrd="0" presId="urn:microsoft.com/office/officeart/2005/8/layout/default"/>
    <dgm:cxn modelId="{C98755C5-1E4C-4DDF-8E7D-E2FA1EF26ED7}" type="presParOf" srcId="{BB0437A2-E00F-467B-9129-E3081E33D6AA}" destId="{99598BD3-370C-488E-B75D-8FA78F3C251B}" srcOrd="17" destOrd="0" presId="urn:microsoft.com/office/officeart/2005/8/layout/default"/>
    <dgm:cxn modelId="{FFE28E97-44ED-4A38-B5D3-711E9A8C9C65}" type="presParOf" srcId="{BB0437A2-E00F-467B-9129-E3081E33D6AA}" destId="{032D97AA-416D-41A9-8F0C-8A406708B49D}"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9EE414-2D5D-402A-96E5-44DA00B742DB}">
      <dsp:nvSpPr>
        <dsp:cNvPr id="0" name=""/>
        <dsp:cNvSpPr/>
      </dsp:nvSpPr>
      <dsp:spPr>
        <a:xfrm>
          <a:off x="1816199" y="59289"/>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EEF96A-0D6B-428C-AF75-2A9651DF736D}">
      <dsp:nvSpPr>
        <dsp:cNvPr id="0" name=""/>
        <dsp:cNvSpPr/>
      </dsp:nvSpPr>
      <dsp:spPr>
        <a:xfrm>
          <a:off x="2284199" y="527289"/>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DB2C32-302E-45D7-BF22-A6BFE5882575}">
      <dsp:nvSpPr>
        <dsp:cNvPr id="0" name=""/>
        <dsp:cNvSpPr/>
      </dsp:nvSpPr>
      <dsp:spPr>
        <a:xfrm>
          <a:off x="1114199" y="2939290"/>
          <a:ext cx="36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488950">
            <a:lnSpc>
              <a:spcPct val="90000"/>
            </a:lnSpc>
            <a:spcBef>
              <a:spcPct val="0"/>
            </a:spcBef>
            <a:spcAft>
              <a:spcPct val="35000"/>
            </a:spcAft>
            <a:defRPr cap="all"/>
          </a:pPr>
          <a:r>
            <a:rPr lang="en-US" sz="1100" b="0" i="0" kern="1200" dirty="0" smtClean="0"/>
            <a:t>You are working as a Data analyst at Ecommerce, a company currently performing well. The stakeholders wish to maintain this level of performance and seek improvement. For this purpose, they want to devise new strategies</a:t>
          </a:r>
          <a:r>
            <a:rPr lang="en-US" sz="1100" b="0" i="0" kern="1200" smtClean="0"/>
            <a:t>. </a:t>
          </a:r>
          <a:endParaRPr lang="en-US" sz="1100" kern="1200" dirty="0"/>
        </a:p>
      </dsp:txBody>
      <dsp:txXfrm>
        <a:off x="1114199" y="2939290"/>
        <a:ext cx="3600000" cy="787500"/>
      </dsp:txXfrm>
    </dsp:sp>
    <dsp:sp modelId="{D99810E3-C1B5-4A5F-A5DF-81E20798A714}">
      <dsp:nvSpPr>
        <dsp:cNvPr id="0" name=""/>
        <dsp:cNvSpPr/>
      </dsp:nvSpPr>
      <dsp:spPr>
        <a:xfrm>
          <a:off x="6046199" y="59289"/>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6F17B1-A07B-44C4-BA79-AF7B9093FD86}">
      <dsp:nvSpPr>
        <dsp:cNvPr id="0" name=""/>
        <dsp:cNvSpPr/>
      </dsp:nvSpPr>
      <dsp:spPr>
        <a:xfrm>
          <a:off x="6514199" y="527289"/>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26E5647-4B6F-44D8-B9E9-0A8420959778}">
      <dsp:nvSpPr>
        <dsp:cNvPr id="0" name=""/>
        <dsp:cNvSpPr/>
      </dsp:nvSpPr>
      <dsp:spPr>
        <a:xfrm>
          <a:off x="5344199" y="2939290"/>
          <a:ext cx="36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488950">
            <a:lnSpc>
              <a:spcPct val="90000"/>
            </a:lnSpc>
            <a:spcBef>
              <a:spcPct val="0"/>
            </a:spcBef>
            <a:spcAft>
              <a:spcPct val="35000"/>
            </a:spcAft>
            <a:defRPr cap="all"/>
          </a:pPr>
          <a:r>
            <a:rPr lang="en-US" sz="1100" b="0" i="0" kern="1200" dirty="0" smtClean="0"/>
            <a:t>You are part of a team exploring new ways to benefit customers, such as offering more discounts and Prime membership perks. Could you suggest additional methods to identify and reward customers and enhance their shopping experience?</a:t>
          </a:r>
          <a:endParaRPr lang="en-US" sz="1100" kern="1200" dirty="0"/>
        </a:p>
      </dsp:txBody>
      <dsp:txXfrm>
        <a:off x="5344199" y="2939290"/>
        <a:ext cx="3600000" cy="787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AB2E61-2FAA-4B8C-A01A-72D92620368E}">
      <dsp:nvSpPr>
        <dsp:cNvPr id="0" name=""/>
        <dsp:cNvSpPr/>
      </dsp:nvSpPr>
      <dsp:spPr>
        <a:xfrm>
          <a:off x="302680" y="2634"/>
          <a:ext cx="1403880" cy="8423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i="0" kern="1200" dirty="0" err="1"/>
            <a:t>OrderDate</a:t>
          </a:r>
          <a:r>
            <a:rPr lang="en-US" sz="1200" b="1" i="0" kern="1200" dirty="0"/>
            <a:t>:</a:t>
          </a:r>
          <a:r>
            <a:rPr lang="en-US" sz="1200" b="0" i="0" kern="1200" dirty="0"/>
            <a:t> The date when the order was placed.</a:t>
          </a:r>
          <a:endParaRPr lang="en-US" sz="1200" kern="1200" dirty="0"/>
        </a:p>
      </dsp:txBody>
      <dsp:txXfrm>
        <a:off x="302680" y="2634"/>
        <a:ext cx="1403880" cy="842328"/>
      </dsp:txXfrm>
    </dsp:sp>
    <dsp:sp modelId="{08D02025-923F-46E1-B8C4-F7AEE856E09A}">
      <dsp:nvSpPr>
        <dsp:cNvPr id="0" name=""/>
        <dsp:cNvSpPr/>
      </dsp:nvSpPr>
      <dsp:spPr>
        <a:xfrm>
          <a:off x="1846949" y="2634"/>
          <a:ext cx="1403880" cy="8423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i="0" kern="1200"/>
            <a:t>OrderID:</a:t>
          </a:r>
          <a:r>
            <a:rPr lang="en-US" sz="1200" b="0" i="0" kern="1200"/>
            <a:t> A unique identifier for each order.</a:t>
          </a:r>
          <a:endParaRPr lang="en-US" sz="1200" kern="1200"/>
        </a:p>
      </dsp:txBody>
      <dsp:txXfrm>
        <a:off x="1846949" y="2634"/>
        <a:ext cx="1403880" cy="842328"/>
      </dsp:txXfrm>
    </dsp:sp>
    <dsp:sp modelId="{AEC09380-1E5A-4120-9D59-F6420C2163AD}">
      <dsp:nvSpPr>
        <dsp:cNvPr id="0" name=""/>
        <dsp:cNvSpPr/>
      </dsp:nvSpPr>
      <dsp:spPr>
        <a:xfrm>
          <a:off x="3391218" y="2634"/>
          <a:ext cx="1403880" cy="8423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i="0" kern="1200" dirty="0" smtClean="0"/>
            <a:t>Product Category:</a:t>
          </a:r>
          <a:r>
            <a:rPr lang="en-US" sz="1200" b="0" i="0" kern="1200" dirty="0" smtClean="0"/>
            <a:t> Represent the types of Product</a:t>
          </a:r>
          <a:endParaRPr lang="en-US" sz="1200" kern="1200" dirty="0"/>
        </a:p>
      </dsp:txBody>
      <dsp:txXfrm>
        <a:off x="3391218" y="2634"/>
        <a:ext cx="1403880" cy="842328"/>
      </dsp:txXfrm>
    </dsp:sp>
    <dsp:sp modelId="{9763626B-149B-493E-9068-CE9C7C86FE86}">
      <dsp:nvSpPr>
        <dsp:cNvPr id="0" name=""/>
        <dsp:cNvSpPr/>
      </dsp:nvSpPr>
      <dsp:spPr>
        <a:xfrm>
          <a:off x="302680" y="985351"/>
          <a:ext cx="1403880" cy="8423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i="0" kern="1200" dirty="0" err="1" smtClean="0"/>
            <a:t>ProductID</a:t>
          </a:r>
          <a:r>
            <a:rPr lang="en-US" sz="1200" b="1" i="0" kern="1200" dirty="0"/>
            <a:t>: </a:t>
          </a:r>
          <a:r>
            <a:rPr lang="en-US" sz="1200" b="0" i="0" kern="1200" dirty="0"/>
            <a:t>A unique identifier for each </a:t>
          </a:r>
          <a:r>
            <a:rPr lang="en-US" sz="1200" b="0" i="0" kern="1200" dirty="0" smtClean="0"/>
            <a:t>product.</a:t>
          </a:r>
          <a:endParaRPr lang="en-US" sz="1200" kern="1200" dirty="0"/>
        </a:p>
      </dsp:txBody>
      <dsp:txXfrm>
        <a:off x="302680" y="985351"/>
        <a:ext cx="1403880" cy="842328"/>
      </dsp:txXfrm>
    </dsp:sp>
    <dsp:sp modelId="{7F4DA138-6620-4357-B650-00A7735401E0}">
      <dsp:nvSpPr>
        <dsp:cNvPr id="0" name=""/>
        <dsp:cNvSpPr/>
      </dsp:nvSpPr>
      <dsp:spPr>
        <a:xfrm>
          <a:off x="1846949" y="985351"/>
          <a:ext cx="1403880" cy="8423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i="0" kern="1200" dirty="0" smtClean="0"/>
            <a:t>Price:</a:t>
          </a:r>
          <a:r>
            <a:rPr lang="en-US" sz="1200" b="0" i="0" kern="1200" dirty="0" smtClean="0"/>
            <a:t> Original price of Product.</a:t>
          </a:r>
          <a:endParaRPr lang="en-US" sz="1200" kern="1200" dirty="0"/>
        </a:p>
      </dsp:txBody>
      <dsp:txXfrm>
        <a:off x="1846949" y="985351"/>
        <a:ext cx="1403880" cy="842328"/>
      </dsp:txXfrm>
    </dsp:sp>
    <dsp:sp modelId="{9A155C91-F90C-4F32-99A2-B7137E116E1C}">
      <dsp:nvSpPr>
        <dsp:cNvPr id="0" name=""/>
        <dsp:cNvSpPr/>
      </dsp:nvSpPr>
      <dsp:spPr>
        <a:xfrm>
          <a:off x="3391218" y="985351"/>
          <a:ext cx="1403880" cy="8423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i="0" kern="1200" dirty="0" smtClean="0"/>
            <a:t>Discount Percent:</a:t>
          </a:r>
          <a:r>
            <a:rPr lang="en-US" sz="1200" b="0" i="0" kern="1200" dirty="0" smtClean="0"/>
            <a:t> Discount applied for  Product Cost before Discount.</a:t>
          </a:r>
          <a:endParaRPr lang="en-US" sz="1200" kern="1200" dirty="0"/>
        </a:p>
      </dsp:txBody>
      <dsp:txXfrm>
        <a:off x="3391218" y="985351"/>
        <a:ext cx="1403880" cy="842328"/>
      </dsp:txXfrm>
    </dsp:sp>
    <dsp:sp modelId="{10B622A9-EAC9-4A22-8407-5E6246F232A3}">
      <dsp:nvSpPr>
        <dsp:cNvPr id="0" name=""/>
        <dsp:cNvSpPr/>
      </dsp:nvSpPr>
      <dsp:spPr>
        <a:xfrm>
          <a:off x="302680" y="1968068"/>
          <a:ext cx="1403880" cy="8423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i="0" kern="1200" dirty="0" smtClean="0"/>
            <a:t>Region:</a:t>
          </a:r>
          <a:r>
            <a:rPr lang="en-US" sz="1200" b="0" i="0" kern="1200" dirty="0" smtClean="0"/>
            <a:t> </a:t>
          </a:r>
          <a:r>
            <a:rPr lang="en-US" sz="1200" b="0" i="0" kern="1200" dirty="0"/>
            <a:t>The geographical area where the customer is located.</a:t>
          </a:r>
          <a:endParaRPr lang="en-US" sz="1200" kern="1200" dirty="0"/>
        </a:p>
      </dsp:txBody>
      <dsp:txXfrm>
        <a:off x="302680" y="1968068"/>
        <a:ext cx="1403880" cy="842328"/>
      </dsp:txXfrm>
    </dsp:sp>
    <dsp:sp modelId="{5B6E5E53-3468-41C4-8E2A-1FE70C767D67}">
      <dsp:nvSpPr>
        <dsp:cNvPr id="0" name=""/>
        <dsp:cNvSpPr/>
      </dsp:nvSpPr>
      <dsp:spPr>
        <a:xfrm>
          <a:off x="1846949" y="1968068"/>
          <a:ext cx="1403880" cy="8423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i="0" kern="1200" dirty="0" smtClean="0"/>
            <a:t>Quantity Sold: </a:t>
          </a:r>
          <a:r>
            <a:rPr lang="en-US" sz="1200" b="0" i="0" kern="1200" dirty="0" smtClean="0"/>
            <a:t>Number</a:t>
          </a:r>
          <a:r>
            <a:rPr lang="en-US" sz="1200" b="1" i="0" kern="1200" dirty="0" smtClean="0"/>
            <a:t> </a:t>
          </a:r>
          <a:r>
            <a:rPr lang="en-US" sz="1200" b="0" i="0" kern="1200" dirty="0" smtClean="0"/>
            <a:t>of Unit Sold</a:t>
          </a:r>
          <a:endParaRPr lang="en-US" sz="1200" b="0" kern="1200" dirty="0"/>
        </a:p>
      </dsp:txBody>
      <dsp:txXfrm>
        <a:off x="1846949" y="1968068"/>
        <a:ext cx="1403880" cy="842328"/>
      </dsp:txXfrm>
    </dsp:sp>
    <dsp:sp modelId="{8CD8AD97-5882-435A-8ACF-F4C4B0DFA5FE}">
      <dsp:nvSpPr>
        <dsp:cNvPr id="0" name=""/>
        <dsp:cNvSpPr/>
      </dsp:nvSpPr>
      <dsp:spPr>
        <a:xfrm>
          <a:off x="3391218" y="1968068"/>
          <a:ext cx="1403880" cy="8423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i="0" kern="1200" dirty="0" smtClean="0"/>
            <a:t>Payment  Method:</a:t>
          </a:r>
          <a:r>
            <a:rPr lang="en-US" sz="1200" b="0" i="0" kern="1200" dirty="0" smtClean="0"/>
            <a:t> mode of Payment (UPI, Card).</a:t>
          </a:r>
          <a:endParaRPr lang="en-US" sz="1200" kern="1200" dirty="0"/>
        </a:p>
      </dsp:txBody>
      <dsp:txXfrm>
        <a:off x="3391218" y="1968068"/>
        <a:ext cx="1403880" cy="842328"/>
      </dsp:txXfrm>
    </dsp:sp>
    <dsp:sp modelId="{032D97AA-416D-41A9-8F0C-8A406708B49D}">
      <dsp:nvSpPr>
        <dsp:cNvPr id="0" name=""/>
        <dsp:cNvSpPr/>
      </dsp:nvSpPr>
      <dsp:spPr>
        <a:xfrm>
          <a:off x="1846949" y="2950784"/>
          <a:ext cx="1403880" cy="84232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1" i="0" kern="1200" dirty="0" smtClean="0"/>
            <a:t>Total Revenue:</a:t>
          </a:r>
          <a:r>
            <a:rPr lang="en-US" sz="1200" b="0" i="0" kern="1200" dirty="0" smtClean="0"/>
            <a:t> Revenue Generated from each order</a:t>
          </a:r>
          <a:endParaRPr lang="en-US" sz="1200" kern="1200" dirty="0"/>
        </a:p>
      </dsp:txBody>
      <dsp:txXfrm>
        <a:off x="1846949" y="2950784"/>
        <a:ext cx="1403880" cy="842328"/>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xmlns="">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488A22-B30B-4613-9E2B-D139B1727A1B}"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0CEC06-58F8-4553-A5D9-B830E475A16D}" type="slidenum">
              <a:rPr lang="en-US" smtClean="0"/>
              <a:t>‹#›</a:t>
            </a:fld>
            <a:endParaRPr lang="en-US"/>
          </a:p>
        </p:txBody>
      </p:sp>
    </p:spTree>
    <p:extLst>
      <p:ext uri="{BB962C8B-B14F-4D97-AF65-F5344CB8AC3E}">
        <p14:creationId xmlns:p14="http://schemas.microsoft.com/office/powerpoint/2010/main" val="175909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0CEC06-58F8-4553-A5D9-B830E475A16D}" type="slidenum">
              <a:rPr lang="en-US" smtClean="0"/>
              <a:t>8</a:t>
            </a:fld>
            <a:endParaRPr lang="en-US"/>
          </a:p>
        </p:txBody>
      </p:sp>
    </p:spTree>
    <p:extLst>
      <p:ext uri="{BB962C8B-B14F-4D97-AF65-F5344CB8AC3E}">
        <p14:creationId xmlns:p14="http://schemas.microsoft.com/office/powerpoint/2010/main" val="546375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0CEC06-58F8-4553-A5D9-B830E475A16D}" type="slidenum">
              <a:rPr lang="en-US" smtClean="0"/>
              <a:t>20</a:t>
            </a:fld>
            <a:endParaRPr lang="en-US"/>
          </a:p>
        </p:txBody>
      </p:sp>
    </p:spTree>
    <p:extLst>
      <p:ext uri="{BB962C8B-B14F-4D97-AF65-F5344CB8AC3E}">
        <p14:creationId xmlns:p14="http://schemas.microsoft.com/office/powerpoint/2010/main" val="1828570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0CEC06-58F8-4553-A5D9-B830E475A16D}" type="slidenum">
              <a:rPr lang="en-US" smtClean="0"/>
              <a:t>23</a:t>
            </a:fld>
            <a:endParaRPr lang="en-US"/>
          </a:p>
        </p:txBody>
      </p:sp>
    </p:spTree>
    <p:extLst>
      <p:ext uri="{BB962C8B-B14F-4D97-AF65-F5344CB8AC3E}">
        <p14:creationId xmlns:p14="http://schemas.microsoft.com/office/powerpoint/2010/main" val="3339524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2D5409-CF30-41CE-9447-82E81C20B3F4}"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AE5691-7D8F-4930-BD04-035019FAD20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4826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2D5409-CF30-41CE-9447-82E81C20B3F4}"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AE5691-7D8F-4930-BD04-035019FAD20D}" type="slidenum">
              <a:rPr lang="en-IN" smtClean="0"/>
              <a:t>‹#›</a:t>
            </a:fld>
            <a:endParaRPr lang="en-IN"/>
          </a:p>
        </p:txBody>
      </p:sp>
    </p:spTree>
    <p:extLst>
      <p:ext uri="{BB962C8B-B14F-4D97-AF65-F5344CB8AC3E}">
        <p14:creationId xmlns:p14="http://schemas.microsoft.com/office/powerpoint/2010/main" val="1698529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2D5409-CF30-41CE-9447-82E81C20B3F4}"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AE5691-7D8F-4930-BD04-035019FAD20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291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2D5409-CF30-41CE-9447-82E81C20B3F4}"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AE5691-7D8F-4930-BD04-035019FAD20D}" type="slidenum">
              <a:rPr lang="en-IN" smtClean="0"/>
              <a:t>‹#›</a:t>
            </a:fld>
            <a:endParaRPr lang="en-IN"/>
          </a:p>
        </p:txBody>
      </p:sp>
    </p:spTree>
    <p:extLst>
      <p:ext uri="{BB962C8B-B14F-4D97-AF65-F5344CB8AC3E}">
        <p14:creationId xmlns:p14="http://schemas.microsoft.com/office/powerpoint/2010/main" val="942510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2D5409-CF30-41CE-9447-82E81C20B3F4}" type="datetimeFigureOut">
              <a:rPr lang="en-IN" smtClean="0"/>
              <a:t>14-04-2026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AE5691-7D8F-4930-BD04-035019FAD20D}" type="slidenum">
              <a:rPr lang="en-IN" smtClean="0"/>
              <a:t>‹#›</a:t>
            </a:fld>
            <a:endParaRPr lang="en-IN"/>
          </a:p>
        </p:txBody>
      </p:sp>
    </p:spTree>
    <p:extLst>
      <p:ext uri="{BB962C8B-B14F-4D97-AF65-F5344CB8AC3E}">
        <p14:creationId xmlns:p14="http://schemas.microsoft.com/office/powerpoint/2010/main" val="1630252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2D5409-CF30-41CE-9447-82E81C20B3F4}" type="datetimeFigureOut">
              <a:rPr lang="en-IN" smtClean="0"/>
              <a:t>14-04-2026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AE5691-7D8F-4930-BD04-035019FAD20D}" type="slidenum">
              <a:rPr lang="en-IN" smtClean="0"/>
              <a:t>‹#›</a:t>
            </a:fld>
            <a:endParaRPr lang="en-IN"/>
          </a:p>
        </p:txBody>
      </p:sp>
    </p:spTree>
    <p:extLst>
      <p:ext uri="{BB962C8B-B14F-4D97-AF65-F5344CB8AC3E}">
        <p14:creationId xmlns:p14="http://schemas.microsoft.com/office/powerpoint/2010/main" val="3725766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52D5409-CF30-41CE-9447-82E81C20B3F4}" type="datetimeFigureOut">
              <a:rPr lang="en-IN" smtClean="0"/>
              <a:t>14-04-2026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2AE5691-7D8F-4930-BD04-035019FAD20D}" type="slidenum">
              <a:rPr lang="en-IN" smtClean="0"/>
              <a:t>‹#›</a:t>
            </a:fld>
            <a:endParaRPr lang="en-IN"/>
          </a:p>
        </p:txBody>
      </p:sp>
    </p:spTree>
    <p:extLst>
      <p:ext uri="{BB962C8B-B14F-4D97-AF65-F5344CB8AC3E}">
        <p14:creationId xmlns:p14="http://schemas.microsoft.com/office/powerpoint/2010/main" val="2398345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52D5409-CF30-41CE-9447-82E81C20B3F4}" type="datetimeFigureOut">
              <a:rPr lang="en-IN" smtClean="0"/>
              <a:t>14-04-2026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2AE5691-7D8F-4930-BD04-035019FAD20D}" type="slidenum">
              <a:rPr lang="en-IN" smtClean="0"/>
              <a:t>‹#›</a:t>
            </a:fld>
            <a:endParaRPr lang="en-IN"/>
          </a:p>
        </p:txBody>
      </p:sp>
    </p:spTree>
    <p:extLst>
      <p:ext uri="{BB962C8B-B14F-4D97-AF65-F5344CB8AC3E}">
        <p14:creationId xmlns:p14="http://schemas.microsoft.com/office/powerpoint/2010/main" val="189882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2D5409-CF30-41CE-9447-82E81C20B3F4}"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AE5691-7D8F-4930-BD04-035019FAD20D}" type="slidenum">
              <a:rPr lang="en-IN" smtClean="0"/>
              <a:t>‹#›</a:t>
            </a:fld>
            <a:endParaRPr lang="en-IN"/>
          </a:p>
        </p:txBody>
      </p:sp>
    </p:spTree>
    <p:extLst>
      <p:ext uri="{BB962C8B-B14F-4D97-AF65-F5344CB8AC3E}">
        <p14:creationId xmlns:p14="http://schemas.microsoft.com/office/powerpoint/2010/main" val="1616553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2D5409-CF30-41CE-9447-82E81C20B3F4}"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AE5691-7D8F-4930-BD04-035019FAD20D}" type="slidenum">
              <a:rPr lang="en-IN" smtClean="0"/>
              <a:t>‹#›</a:t>
            </a:fld>
            <a:endParaRPr lang="en-IN"/>
          </a:p>
        </p:txBody>
      </p:sp>
    </p:spTree>
    <p:extLst>
      <p:ext uri="{BB962C8B-B14F-4D97-AF65-F5344CB8AC3E}">
        <p14:creationId xmlns:p14="http://schemas.microsoft.com/office/powerpoint/2010/main" val="4179559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2D5409-CF30-41CE-9447-82E81C20B3F4}"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AE5691-7D8F-4930-BD04-035019FAD20D}" type="slidenum">
              <a:rPr lang="en-IN" smtClean="0"/>
              <a:t>‹#›</a:t>
            </a:fld>
            <a:endParaRPr lang="en-IN"/>
          </a:p>
        </p:txBody>
      </p:sp>
    </p:spTree>
    <p:extLst>
      <p:ext uri="{BB962C8B-B14F-4D97-AF65-F5344CB8AC3E}">
        <p14:creationId xmlns:p14="http://schemas.microsoft.com/office/powerpoint/2010/main" val="1640771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52D5409-CF30-41CE-9447-82E81C20B3F4}" type="datetimeFigureOut">
              <a:rPr lang="en-IN" smtClean="0"/>
              <a:t>14-04-2026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2AE5691-7D8F-4930-BD04-035019FAD20D}"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562879"/>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0" name="Rectangle 1029">
            <a:extLst>
              <a:ext uri="{FF2B5EF4-FFF2-40B4-BE49-F238E27FC236}">
                <a16:creationId xmlns:a16="http://schemas.microsoft.com/office/drawing/2014/main" id="{600B5AE2-C5CC-499C-8F2D-249888BE22C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1031" name="Rectangle 1030">
            <a:extLst>
              <a:ext uri="{FF2B5EF4-FFF2-40B4-BE49-F238E27FC236}">
                <a16:creationId xmlns:a16="http://schemas.microsoft.com/office/drawing/2014/main" id="{BA7A3698-B350-40E5-8475-9BCC41A089F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cxnSp>
        <p:nvCxnSpPr>
          <p:cNvPr id="1037" name="Straight Connector 1036">
            <a:extLst>
              <a:ext uri="{FF2B5EF4-FFF2-40B4-BE49-F238E27FC236}">
                <a16:creationId xmlns:a16="http://schemas.microsoft.com/office/drawing/2014/main" id="{0AC655C7-EC94-4BE6-84C8-2F9EFBBB2789}"/>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039" name="Rectangle 1038">
            <a:extLst>
              <a:ext uri="{FF2B5EF4-FFF2-40B4-BE49-F238E27FC236}">
                <a16:creationId xmlns:a16="http://schemas.microsoft.com/office/drawing/2014/main" id="{990D0034-F768-41E7-85D4-F38C4DE8577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C4F7E42D-8B5A-4FC8-81CD-9E60171F7FA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4" name="Title 3">
            <a:extLst>
              <a:ext uri="{FF2B5EF4-FFF2-40B4-BE49-F238E27FC236}">
                <a16:creationId xmlns:a16="http://schemas.microsoft.com/office/drawing/2014/main" id="{75996941-4D39-EDE7-AD31-96E99F86E8B1}"/>
              </a:ext>
            </a:extLst>
          </p:cNvPr>
          <p:cNvSpPr>
            <a:spLocks noGrp="1"/>
          </p:cNvSpPr>
          <p:nvPr>
            <p:ph type="title"/>
          </p:nvPr>
        </p:nvSpPr>
        <p:spPr>
          <a:xfrm>
            <a:off x="492370" y="516836"/>
            <a:ext cx="3084844" cy="1791968"/>
          </a:xfrm>
        </p:spPr>
        <p:txBody>
          <a:bodyPr vert="horz" lIns="91440" tIns="45720" rIns="91440" bIns="45720" rtlCol="0" anchor="b">
            <a:normAutofit/>
          </a:bodyPr>
          <a:lstStyle/>
          <a:p>
            <a:r>
              <a:rPr lang="en-US" b="1" u="sng" dirty="0" smtClean="0"/>
              <a:t>E-COMMERCE</a:t>
            </a:r>
            <a:r>
              <a:rPr lang="en-US" dirty="0" smtClean="0"/>
              <a:t> </a:t>
            </a:r>
            <a:r>
              <a:rPr lang="en-US" b="1" u="sng" kern="1200" spc="-50" baseline="0" dirty="0" smtClean="0">
                <a:latin typeface="+mj-lt"/>
                <a:ea typeface="+mj-ea"/>
                <a:cs typeface="+mj-cs"/>
              </a:rPr>
              <a:t>SALES </a:t>
            </a:r>
            <a:r>
              <a:rPr lang="en-US" b="1" u="sng" kern="1200" spc="-50" baseline="0" dirty="0">
                <a:latin typeface="+mj-lt"/>
                <a:ea typeface="+mj-ea"/>
                <a:cs typeface="+mj-cs"/>
              </a:rPr>
              <a:t>ANALYSIS</a:t>
            </a:r>
            <a:r>
              <a:rPr lang="en-US" kern="1200" spc="-50" baseline="0" dirty="0">
                <a:latin typeface="+mj-lt"/>
                <a:ea typeface="+mj-ea"/>
                <a:cs typeface="+mj-cs"/>
              </a:rPr>
              <a:t/>
            </a:r>
            <a:br>
              <a:rPr lang="en-US" kern="1200" spc="-50" baseline="0" dirty="0">
                <a:latin typeface="+mj-lt"/>
                <a:ea typeface="+mj-ea"/>
                <a:cs typeface="+mj-cs"/>
              </a:rPr>
            </a:br>
            <a:endParaRPr lang="en-US" kern="1200" spc="-50" baseline="0" dirty="0">
              <a:latin typeface="+mj-lt"/>
              <a:ea typeface="+mj-ea"/>
              <a:cs typeface="+mj-cs"/>
            </a:endParaRPr>
          </a:p>
        </p:txBody>
      </p:sp>
      <p:sp>
        <p:nvSpPr>
          <p:cNvPr id="6" name="Text Placeholder 5">
            <a:extLst>
              <a:ext uri="{FF2B5EF4-FFF2-40B4-BE49-F238E27FC236}">
                <a16:creationId xmlns:a16="http://schemas.microsoft.com/office/drawing/2014/main" id="{50003D11-E1D0-61CD-C1C5-D41085452D3E}"/>
              </a:ext>
            </a:extLst>
          </p:cNvPr>
          <p:cNvSpPr>
            <a:spLocks noGrp="1"/>
          </p:cNvSpPr>
          <p:nvPr>
            <p:ph type="body" sz="half" idx="2"/>
          </p:nvPr>
        </p:nvSpPr>
        <p:spPr>
          <a:xfrm>
            <a:off x="492371" y="2136710"/>
            <a:ext cx="3084844" cy="1338971"/>
          </a:xfrm>
        </p:spPr>
        <p:txBody>
          <a:bodyPr vert="horz" lIns="0" tIns="45720" rIns="0" bIns="45720" rtlCol="0">
            <a:normAutofit/>
          </a:bodyPr>
          <a:lstStyle/>
          <a:p>
            <a:pPr indent="-228600">
              <a:buFont typeface="Calibri" panose="020F0502020204030204" pitchFamily="34" charset="0"/>
              <a:buChar char="•"/>
            </a:pPr>
            <a:r>
              <a:rPr lang="en-US" b="1" dirty="0"/>
              <a:t>Submitted By: </a:t>
            </a:r>
            <a:r>
              <a:rPr lang="en-US" b="1" dirty="0" err="1" smtClean="0"/>
              <a:t>Roshani</a:t>
            </a:r>
            <a:r>
              <a:rPr lang="en-US" b="1" dirty="0" smtClean="0"/>
              <a:t> </a:t>
            </a:r>
            <a:r>
              <a:rPr lang="en-US" b="1" dirty="0" err="1" smtClean="0"/>
              <a:t>Shinde</a:t>
            </a:r>
            <a:endParaRPr lang="en-US" b="1" dirty="0" smtClean="0"/>
          </a:p>
          <a:p>
            <a:pPr indent="-228600">
              <a:buFont typeface="Calibri" panose="020F0502020204030204" pitchFamily="34" charset="0"/>
              <a:buChar char="•"/>
            </a:pPr>
            <a:r>
              <a:rPr lang="en-US" b="1" dirty="0" smtClean="0"/>
              <a:t>Batch: (B.N.065/25 DA and DS)</a:t>
            </a:r>
            <a:endParaRPr lang="en-US" b="1" dirty="0"/>
          </a:p>
          <a:p>
            <a:pPr indent="-228600">
              <a:buFont typeface="Calibri" panose="020F0502020204030204" pitchFamily="34" charset="0"/>
              <a:buChar char="•"/>
            </a:pPr>
            <a:r>
              <a:rPr lang="en-US" b="1" dirty="0" smtClean="0"/>
              <a:t>Date :14-06-2025</a:t>
            </a:r>
          </a:p>
          <a:p>
            <a:pPr indent="-228600">
              <a:buFont typeface="Calibri" panose="020F0502020204030204" pitchFamily="34" charset="0"/>
              <a:buChar char="•"/>
            </a:pPr>
            <a:endParaRPr lang="en-US" b="1" dirty="0"/>
          </a:p>
        </p:txBody>
      </p:sp>
      <p:pic>
        <p:nvPicPr>
          <p:cNvPr id="1028" name="Picture 4" descr="How to Become an Amazon Vendor and Succeed - Analytic Index">
            <a:extLst>
              <a:ext uri="{FF2B5EF4-FFF2-40B4-BE49-F238E27FC236}">
                <a16:creationId xmlns:a16="http://schemas.microsoft.com/office/drawing/2014/main" id="{EA1184BB-CB38-A26C-DF0A-EFC71FE05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333" r="13379" b="-1"/>
          <a:stretch>
            <a:fillRect/>
          </a:stretch>
        </p:blipFill>
        <p:spPr bwMode="auto">
          <a:xfrm>
            <a:off x="4075043" y="10"/>
            <a:ext cx="811127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3" name="Rectangle 1042">
            <a:extLst>
              <a:ext uri="{FF2B5EF4-FFF2-40B4-BE49-F238E27FC236}">
                <a16:creationId xmlns:a16="http://schemas.microsoft.com/office/drawing/2014/main" id="{8C04651D-B9F4-4935-A02D-364153FBDF5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Tree>
    <p:extLst>
      <p:ext uri="{BB962C8B-B14F-4D97-AF65-F5344CB8AC3E}">
        <p14:creationId xmlns:p14="http://schemas.microsoft.com/office/powerpoint/2010/main" val="2038084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alculator and folders">
            <a:extLst>
              <a:ext uri="{FF2B5EF4-FFF2-40B4-BE49-F238E27FC236}">
                <a16:creationId xmlns:a16="http://schemas.microsoft.com/office/drawing/2014/main" id="{EBE85FD8-F9CF-642A-D9CE-B53E9559047D}"/>
              </a:ext>
            </a:extLst>
          </p:cNvPr>
          <p:cNvPicPr>
            <a:picLocks noChangeAspect="1"/>
          </p:cNvPicPr>
          <p:nvPr/>
        </p:nvPicPr>
        <p:blipFill>
          <a:blip r:embed="rId2">
            <a:duotone>
              <a:schemeClr val="bg2">
                <a:shade val="45000"/>
                <a:satMod val="135000"/>
              </a:schemeClr>
              <a:prstClr val="white"/>
            </a:duotone>
            <a:alphaModFix amt="35000"/>
          </a:blip>
          <a:srcRect t="8942" b="8942"/>
          <a:stretch>
            <a:fillRect/>
          </a:stretch>
        </p:blipFill>
        <p:spPr>
          <a:xfrm>
            <a:off x="20" y="10"/>
            <a:ext cx="12191980" cy="6857990"/>
          </a:xfrm>
          <a:prstGeom prst="rect">
            <a:avLst/>
          </a:prstGeom>
        </p:spPr>
      </p:pic>
      <p:cxnSp>
        <p:nvCxnSpPr>
          <p:cNvPr id="18" name="Straight Connector 17">
            <a:extLst>
              <a:ext uri="{FF2B5EF4-FFF2-40B4-BE49-F238E27FC236}">
                <a16:creationId xmlns:a16="http://schemas.microsoft.com/office/drawing/2014/main" id="{E9F7CBA9-9D9B-479F-AAB5-BF785971CD85}"/>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5687706-5A11-2FA5-DDEF-DC1C1613A370}"/>
              </a:ext>
            </a:extLst>
          </p:cNvPr>
          <p:cNvSpPr>
            <a:spLocks noGrp="1"/>
          </p:cNvSpPr>
          <p:nvPr>
            <p:ph type="title"/>
          </p:nvPr>
        </p:nvSpPr>
        <p:spPr>
          <a:xfrm>
            <a:off x="1097280" y="286603"/>
            <a:ext cx="10058400" cy="1450757"/>
          </a:xfrm>
        </p:spPr>
        <p:txBody>
          <a:bodyPr>
            <a:normAutofit/>
          </a:bodyPr>
          <a:lstStyle/>
          <a:p>
            <a:r>
              <a:rPr lang="en-IN" b="1" u="sng" dirty="0"/>
              <a:t>AGENDA</a:t>
            </a:r>
          </a:p>
        </p:txBody>
      </p:sp>
      <p:sp>
        <p:nvSpPr>
          <p:cNvPr id="3" name="Content Placeholder 2">
            <a:extLst>
              <a:ext uri="{FF2B5EF4-FFF2-40B4-BE49-F238E27FC236}">
                <a16:creationId xmlns:a16="http://schemas.microsoft.com/office/drawing/2014/main" id="{195299C0-D7EC-D320-94B5-379414E626D5}"/>
              </a:ext>
            </a:extLst>
          </p:cNvPr>
          <p:cNvSpPr>
            <a:spLocks noGrp="1"/>
          </p:cNvSpPr>
          <p:nvPr>
            <p:ph idx="1"/>
          </p:nvPr>
        </p:nvSpPr>
        <p:spPr>
          <a:xfrm>
            <a:off x="1097280" y="1845734"/>
            <a:ext cx="10058400" cy="4023360"/>
          </a:xfrm>
        </p:spPr>
        <p:txBody>
          <a:bodyPr>
            <a:normAutofit/>
          </a:bodyPr>
          <a:lstStyle/>
          <a:p>
            <a:pPr>
              <a:buFont typeface="Wingdings" panose="05000000000000000000" pitchFamily="2" charset="2"/>
              <a:buChar char="Ø"/>
            </a:pPr>
            <a:r>
              <a:rPr lang="en-US" sz="1600" dirty="0">
                <a:latin typeface="Arial" panose="020B0604020202020204" pitchFamily="34" charset="0"/>
                <a:cs typeface="Arial" panose="020B0604020202020204" pitchFamily="34" charset="0"/>
              </a:rPr>
              <a:t>Problem Statement</a:t>
            </a:r>
          </a:p>
          <a:p>
            <a:pPr>
              <a:buFont typeface="Wingdings" panose="05000000000000000000" pitchFamily="2" charset="2"/>
              <a:buChar char="Ø"/>
            </a:pPr>
            <a:r>
              <a:rPr lang="en-US" sz="1600" dirty="0">
                <a:latin typeface="Arial" panose="020B0604020202020204" pitchFamily="34" charset="0"/>
                <a:cs typeface="Arial" panose="020B0604020202020204" pitchFamily="34" charset="0"/>
              </a:rPr>
              <a:t>Data </a:t>
            </a:r>
            <a:r>
              <a:rPr lang="en-US" sz="1600" dirty="0" smtClean="0">
                <a:latin typeface="Arial" panose="020B0604020202020204" pitchFamily="34" charset="0"/>
                <a:cs typeface="Arial" panose="020B0604020202020204" pitchFamily="34" charset="0"/>
              </a:rPr>
              <a:t>Descriptions</a:t>
            </a:r>
            <a:endParaRPr lang="en-US" sz="16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Data </a:t>
            </a:r>
            <a:r>
              <a:rPr lang="en-US" sz="1600" dirty="0">
                <a:latin typeface="Arial" panose="020B0604020202020204" pitchFamily="34" charset="0"/>
                <a:cs typeface="Arial" panose="020B0604020202020204" pitchFamily="34" charset="0"/>
              </a:rPr>
              <a:t>Cleaning </a:t>
            </a:r>
          </a:p>
          <a:p>
            <a:pPr>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Exploratory </a:t>
            </a:r>
            <a:r>
              <a:rPr lang="en-US" sz="1600" dirty="0">
                <a:latin typeface="Arial" panose="020B0604020202020204" pitchFamily="34" charset="0"/>
                <a:cs typeface="Arial" panose="020B0604020202020204" pitchFamily="34" charset="0"/>
              </a:rPr>
              <a:t>Data Analysis (EDA) </a:t>
            </a:r>
          </a:p>
          <a:p>
            <a:pPr>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Feature </a:t>
            </a:r>
            <a:r>
              <a:rPr lang="en-US" sz="1600" dirty="0">
                <a:latin typeface="Arial" panose="020B0604020202020204" pitchFamily="34" charset="0"/>
                <a:cs typeface="Arial" panose="020B0604020202020204" pitchFamily="34" charset="0"/>
              </a:rPr>
              <a:t>Engineering</a:t>
            </a:r>
          </a:p>
          <a:p>
            <a:pPr>
              <a:buFont typeface="Wingdings" panose="05000000000000000000" pitchFamily="2" charset="2"/>
              <a:buChar char="Ø"/>
            </a:pPr>
            <a:r>
              <a:rPr lang="en-US" sz="1600" dirty="0" smtClean="0">
                <a:latin typeface="Arial" panose="020B0604020202020204" pitchFamily="34" charset="0"/>
                <a:cs typeface="Arial" panose="020B0604020202020204" pitchFamily="34" charset="0"/>
              </a:rPr>
              <a:t>Power </a:t>
            </a:r>
            <a:r>
              <a:rPr lang="en-US" sz="1600" dirty="0">
                <a:latin typeface="Arial" panose="020B0604020202020204" pitchFamily="34" charset="0"/>
                <a:cs typeface="Arial" panose="020B0604020202020204" pitchFamily="34" charset="0"/>
              </a:rPr>
              <a:t>BI Dashboard </a:t>
            </a:r>
          </a:p>
          <a:p>
            <a:pPr>
              <a:buFont typeface="Wingdings" panose="05000000000000000000" pitchFamily="2" charset="2"/>
              <a:buChar char="Ø"/>
            </a:pPr>
            <a:r>
              <a:rPr lang="en-US" sz="1600" dirty="0">
                <a:latin typeface="Arial" panose="020B0604020202020204" pitchFamily="34" charset="0"/>
                <a:cs typeface="Arial" panose="020B0604020202020204" pitchFamily="34" charset="0"/>
              </a:rPr>
              <a:t> </a:t>
            </a:r>
            <a:r>
              <a:rPr lang="en-US" sz="1600" dirty="0" smtClean="0">
                <a:latin typeface="Arial" panose="020B0604020202020204" pitchFamily="34" charset="0"/>
                <a:cs typeface="Arial" panose="020B0604020202020204" pitchFamily="34" charset="0"/>
              </a:rPr>
              <a:t>Total Sales by Product category</a:t>
            </a:r>
            <a:endParaRPr lang="en-US" sz="16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1600" dirty="0">
                <a:latin typeface="Arial" panose="020B0604020202020204" pitchFamily="34" charset="0"/>
                <a:cs typeface="Arial" panose="020B0604020202020204" pitchFamily="34" charset="0"/>
              </a:rPr>
              <a:t>Revenue Distribution</a:t>
            </a:r>
          </a:p>
          <a:p>
            <a:pPr>
              <a:buFont typeface="Wingdings" panose="05000000000000000000" pitchFamily="2" charset="2"/>
              <a:buChar char="Ø"/>
            </a:pPr>
            <a:r>
              <a:rPr lang="en-US" sz="1600" dirty="0">
                <a:latin typeface="Arial" panose="020B0604020202020204" pitchFamily="34" charset="0"/>
                <a:cs typeface="Arial" panose="020B0604020202020204" pitchFamily="34" charset="0"/>
              </a:rPr>
              <a:t>Monthly Sales: Current Year vs Previous Year</a:t>
            </a:r>
          </a:p>
          <a:p>
            <a:pPr>
              <a:buFont typeface="Wingdings" panose="05000000000000000000" pitchFamily="2" charset="2"/>
              <a:buChar char="Ø"/>
            </a:pPr>
            <a:r>
              <a:rPr lang="en-US" sz="1600" dirty="0">
                <a:latin typeface="Arial" panose="020B0604020202020204" pitchFamily="34" charset="0"/>
                <a:cs typeface="Arial" panose="020B0604020202020204" pitchFamily="34" charset="0"/>
              </a:rPr>
              <a:t>Reports</a:t>
            </a:r>
          </a:p>
          <a:p>
            <a:endParaRPr lang="en-IN" sz="1600" dirty="0"/>
          </a:p>
        </p:txBody>
      </p:sp>
      <p:sp>
        <p:nvSpPr>
          <p:cNvPr id="19" name="Rectangle 18">
            <a:extLst>
              <a:ext uri="{FF2B5EF4-FFF2-40B4-BE49-F238E27FC236}">
                <a16:creationId xmlns:a16="http://schemas.microsoft.com/office/drawing/2014/main" id="{154480E5-678B-478F-9170-46502C5FB3E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20" name="Rectangle 19">
            <a:extLst>
              <a:ext uri="{FF2B5EF4-FFF2-40B4-BE49-F238E27FC236}">
                <a16:creationId xmlns:a16="http://schemas.microsoft.com/office/drawing/2014/main" id="{B598D875-841B-47A7-B4C8-237DBCE2FB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Tree>
    <p:extLst>
      <p:ext uri="{BB962C8B-B14F-4D97-AF65-F5344CB8AC3E}">
        <p14:creationId xmlns:p14="http://schemas.microsoft.com/office/powerpoint/2010/main" val="2347666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BE4F5-874F-CBAD-BB4C-ACA05BE27D19}"/>
              </a:ext>
            </a:extLst>
          </p:cNvPr>
          <p:cNvSpPr>
            <a:spLocks noGrp="1"/>
          </p:cNvSpPr>
          <p:nvPr>
            <p:ph type="title"/>
          </p:nvPr>
        </p:nvSpPr>
        <p:spPr>
          <a:xfrm>
            <a:off x="1097280" y="286603"/>
            <a:ext cx="10058400" cy="1450757"/>
          </a:xfrm>
        </p:spPr>
        <p:txBody>
          <a:bodyPr>
            <a:normAutofit/>
          </a:bodyPr>
          <a:lstStyle/>
          <a:p>
            <a:r>
              <a:rPr lang="en-US" b="1" u="sng" dirty="0"/>
              <a:t>Problem Statement</a:t>
            </a:r>
            <a:endParaRPr lang="en-IN" u="sng" dirty="0"/>
          </a:p>
        </p:txBody>
      </p:sp>
      <p:graphicFrame>
        <p:nvGraphicFramePr>
          <p:cNvPr id="5" name="Content Placeholder 2">
            <a:extLst>
              <a:ext uri="{FF2B5EF4-FFF2-40B4-BE49-F238E27FC236}">
                <a16:creationId xmlns:a16="http://schemas.microsoft.com/office/drawing/2014/main" id="{DBBFFEE7-BA06-CCFE-D599-11FB9438D982}"/>
              </a:ext>
            </a:extLst>
          </p:cNvPr>
          <p:cNvGraphicFramePr>
            <a:graphicFrameLocks noGrp="1"/>
          </p:cNvGraphicFramePr>
          <p:nvPr>
            <p:ph idx="1"/>
            <p:extLst>
              <p:ext uri="{D42A27DB-BD31-4B8C-83A1-F6EECF244321}">
                <p14:modId xmlns:p14="http://schemas.microsoft.com/office/powerpoint/2010/main" val="1655757447"/>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3188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Problem </a:t>
            </a:r>
            <a:r>
              <a:rPr lang="en-US" b="1" u="sng" dirty="0" smtClean="0"/>
              <a:t>Statement</a:t>
            </a:r>
            <a:endParaRPr lang="en-US" dirty="0"/>
          </a:p>
        </p:txBody>
      </p:sp>
      <p:sp>
        <p:nvSpPr>
          <p:cNvPr id="3" name="Content Placeholder 2"/>
          <p:cNvSpPr>
            <a:spLocks noGrp="1"/>
          </p:cNvSpPr>
          <p:nvPr>
            <p:ph idx="1"/>
          </p:nvPr>
        </p:nvSpPr>
        <p:spPr>
          <a:xfrm>
            <a:off x="1097280" y="1845733"/>
            <a:ext cx="10058400" cy="4349793"/>
          </a:xfrm>
        </p:spPr>
        <p:txBody>
          <a:bodyPr>
            <a:normAutofit lnSpcReduction="10000"/>
          </a:bodyPr>
          <a:lstStyle/>
          <a:p>
            <a:r>
              <a:rPr lang="en-US" dirty="0" smtClean="0"/>
              <a:t>This </a:t>
            </a:r>
            <a:r>
              <a:rPr lang="en-US" dirty="0"/>
              <a:t>project focuses on analyzing e-commerce sales data to uncover patterns, evaluate performance, and generate actionable insights that support better decision-making and business growth</a:t>
            </a:r>
            <a:r>
              <a:rPr lang="en-US" dirty="0" smtClean="0"/>
              <a:t>.</a:t>
            </a:r>
          </a:p>
          <a:p>
            <a:r>
              <a:rPr lang="en-US" sz="1800" b="1" i="1" dirty="0"/>
              <a:t>Analyze e-commerce sales data to identify trends, improve performance, and drive business growth</a:t>
            </a:r>
            <a:r>
              <a:rPr lang="en-US" sz="1800" b="1" i="1" dirty="0" smtClean="0"/>
              <a:t>.</a:t>
            </a:r>
            <a:endParaRPr lang="en-US" sz="1800" b="1" dirty="0"/>
          </a:p>
          <a:p>
            <a:r>
              <a:rPr lang="en-US" b="1" dirty="0"/>
              <a:t>Key Business Questions</a:t>
            </a:r>
            <a:endParaRPr lang="en-US" dirty="0"/>
          </a:p>
          <a:p>
            <a:pPr lvl="0">
              <a:buFont typeface="Arial" panose="020B0604020202020204" pitchFamily="34" charset="0"/>
              <a:buChar char="•"/>
            </a:pPr>
            <a:r>
              <a:rPr lang="en-US" dirty="0"/>
              <a:t>What is the </a:t>
            </a:r>
            <a:r>
              <a:rPr lang="en-US" b="1" dirty="0"/>
              <a:t>total sales and profit performance</a:t>
            </a:r>
            <a:r>
              <a:rPr lang="en-US" dirty="0"/>
              <a:t>? </a:t>
            </a:r>
          </a:p>
          <a:p>
            <a:pPr lvl="0">
              <a:buFont typeface="Arial" panose="020B0604020202020204" pitchFamily="34" charset="0"/>
              <a:buChar char="•"/>
            </a:pPr>
            <a:r>
              <a:rPr lang="en-US" dirty="0"/>
              <a:t>Which </a:t>
            </a:r>
            <a:r>
              <a:rPr lang="en-US" b="1" dirty="0"/>
              <a:t>products and categories generate the highest revenue</a:t>
            </a:r>
            <a:r>
              <a:rPr lang="en-US" dirty="0"/>
              <a:t>? </a:t>
            </a:r>
          </a:p>
          <a:p>
            <a:pPr lvl="0">
              <a:buFont typeface="Arial" panose="020B0604020202020204" pitchFamily="34" charset="0"/>
              <a:buChar char="•"/>
            </a:pPr>
            <a:r>
              <a:rPr lang="en-US" dirty="0"/>
              <a:t>What are the </a:t>
            </a:r>
            <a:r>
              <a:rPr lang="en-US" b="1" dirty="0"/>
              <a:t>monthly and yearly sales trends</a:t>
            </a:r>
            <a:r>
              <a:rPr lang="en-US" dirty="0"/>
              <a:t>? </a:t>
            </a:r>
          </a:p>
          <a:p>
            <a:pPr lvl="0">
              <a:buFont typeface="Arial" panose="020B0604020202020204" pitchFamily="34" charset="0"/>
              <a:buChar char="•"/>
            </a:pPr>
            <a:r>
              <a:rPr lang="en-US" dirty="0"/>
              <a:t>Which </a:t>
            </a:r>
            <a:r>
              <a:rPr lang="en-US" b="1" dirty="0"/>
              <a:t>regions contribute the most to sales</a:t>
            </a:r>
            <a:r>
              <a:rPr lang="en-US" dirty="0"/>
              <a:t>? </a:t>
            </a:r>
          </a:p>
          <a:p>
            <a:pPr lvl="0">
              <a:buFont typeface="Arial" panose="020B0604020202020204" pitchFamily="34" charset="0"/>
              <a:buChar char="•"/>
            </a:pPr>
            <a:r>
              <a:rPr lang="en-US" dirty="0"/>
              <a:t>Who are the </a:t>
            </a:r>
            <a:r>
              <a:rPr lang="en-US" b="1" dirty="0"/>
              <a:t>top customers</a:t>
            </a:r>
            <a:r>
              <a:rPr lang="en-US" dirty="0"/>
              <a:t> and their buying behavior? </a:t>
            </a:r>
          </a:p>
          <a:p>
            <a:pPr lvl="0">
              <a:buFont typeface="Arial" panose="020B0604020202020204" pitchFamily="34" charset="0"/>
              <a:buChar char="•"/>
            </a:pPr>
            <a:r>
              <a:rPr lang="en-US" dirty="0"/>
              <a:t>How do </a:t>
            </a:r>
            <a:r>
              <a:rPr lang="en-US" b="1" dirty="0"/>
              <a:t>discounts impact</a:t>
            </a:r>
            <a:r>
              <a:rPr lang="en-US" dirty="0"/>
              <a:t> profit?</a:t>
            </a:r>
          </a:p>
          <a:p>
            <a:endParaRPr lang="en-US" b="1" i="1" u="sng" dirty="0"/>
          </a:p>
        </p:txBody>
      </p:sp>
    </p:spTree>
    <p:extLst>
      <p:ext uri="{BB962C8B-B14F-4D97-AF65-F5344CB8AC3E}">
        <p14:creationId xmlns:p14="http://schemas.microsoft.com/office/powerpoint/2010/main" val="2911737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43606" y="587830"/>
            <a:ext cx="10580915" cy="4938147"/>
          </a:xfrm>
          <a:prstGeom prst="rect">
            <a:avLst/>
          </a:prstGeom>
        </p:spPr>
        <p:txBody>
          <a:bodyPr wrap="square">
            <a:spAutoFit/>
          </a:bodyPr>
          <a:lstStyle/>
          <a:p>
            <a:pPr>
              <a:lnSpc>
                <a:spcPct val="107000"/>
              </a:lnSpc>
              <a:spcAft>
                <a:spcPts val="800"/>
              </a:spcAft>
            </a:pPr>
            <a:r>
              <a:rPr lang="en-US" sz="3200" b="1" dirty="0">
                <a:ea typeface="Times New Roman" panose="02020603050405020304" pitchFamily="18" charset="0"/>
                <a:cs typeface="Times New Roman" panose="02020603050405020304" pitchFamily="18" charset="0"/>
              </a:rPr>
              <a:t>Data collection</a:t>
            </a:r>
            <a:endParaRPr lang="en-US" sz="3200" b="1" dirty="0">
              <a:ea typeface="Calibri" panose="020F0502020204030204" pitchFamily="34" charset="0"/>
              <a:cs typeface="Times New Roman" panose="02020603050405020304" pitchFamily="18" charset="0"/>
            </a:endParaRPr>
          </a:p>
          <a:p>
            <a:pPr>
              <a:lnSpc>
                <a:spcPct val="107000"/>
              </a:lnSpc>
              <a:spcAft>
                <a:spcPts val="800"/>
              </a:spcAft>
            </a:pPr>
            <a:r>
              <a:rPr lang="en-US" b="1" dirty="0">
                <a:ea typeface="Times New Roman" panose="02020603050405020304" pitchFamily="18" charset="0"/>
                <a:cs typeface="Times New Roman" panose="02020603050405020304" pitchFamily="18" charset="0"/>
              </a:rPr>
              <a:t>Data Source:</a:t>
            </a:r>
            <a:r>
              <a:rPr lang="en-US" dirty="0">
                <a:ea typeface="Times New Roman" panose="02020603050405020304" pitchFamily="18" charset="0"/>
                <a:cs typeface="Times New Roman" panose="02020603050405020304" pitchFamily="18" charset="0"/>
              </a:rPr>
              <a:t/>
            </a:r>
            <a:br>
              <a:rPr lang="en-US" dirty="0">
                <a:ea typeface="Times New Roman" panose="02020603050405020304" pitchFamily="18" charset="0"/>
                <a:cs typeface="Times New Roman" panose="02020603050405020304" pitchFamily="18" charset="0"/>
              </a:rPr>
            </a:br>
            <a:r>
              <a:rPr lang="en-US" dirty="0" smtClean="0"/>
              <a:t>The </a:t>
            </a:r>
            <a:r>
              <a:rPr lang="en-US" dirty="0"/>
              <a:t>dataset was obtained from </a:t>
            </a:r>
            <a:r>
              <a:rPr lang="en-US" dirty="0" err="1"/>
              <a:t>Kaggle</a:t>
            </a:r>
            <a:r>
              <a:rPr lang="en-US" dirty="0"/>
              <a:t>, a popular platform for data science projects</a:t>
            </a:r>
            <a:r>
              <a:rPr lang="en-US" dirty="0" smtClean="0"/>
              <a:t>.</a:t>
            </a:r>
            <a:endParaRPr lang="en-US" dirty="0">
              <a:ea typeface="Calibri" panose="020F0502020204030204" pitchFamily="34" charset="0"/>
              <a:cs typeface="Times New Roman" panose="02020603050405020304" pitchFamily="18" charset="0"/>
            </a:endParaRPr>
          </a:p>
          <a:p>
            <a:pPr>
              <a:lnSpc>
                <a:spcPct val="107000"/>
              </a:lnSpc>
              <a:spcAft>
                <a:spcPts val="800"/>
              </a:spcAft>
            </a:pPr>
            <a:r>
              <a:rPr lang="en-US" b="1" dirty="0">
                <a:ea typeface="Times New Roman" panose="02020603050405020304" pitchFamily="18" charset="0"/>
                <a:cs typeface="Times New Roman" panose="02020603050405020304" pitchFamily="18" charset="0"/>
              </a:rPr>
              <a:t>Database Details:</a:t>
            </a:r>
            <a:endParaRPr lang="en-US" sz="1600" dirty="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smtClean="0">
                <a:ea typeface="Calibri" panose="020F0502020204030204" pitchFamily="34" charset="0"/>
                <a:cs typeface="Times New Roman" panose="02020603050405020304" pitchFamily="18" charset="0"/>
              </a:rPr>
              <a:t>Platform:  </a:t>
            </a:r>
            <a:r>
              <a:rPr lang="en-US" dirty="0" err="1" smtClean="0">
                <a:ea typeface="Calibri" panose="020F0502020204030204" pitchFamily="34" charset="0"/>
                <a:cs typeface="Times New Roman" panose="02020603050405020304" pitchFamily="18" charset="0"/>
              </a:rPr>
              <a:t>Kaggle</a:t>
            </a:r>
            <a:endParaRPr lang="en-US" dirty="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err="1" smtClean="0">
                <a:ea typeface="Times New Roman" panose="02020603050405020304" pitchFamily="18" charset="0"/>
                <a:cs typeface="Times New Roman" panose="02020603050405020304" pitchFamily="18" charset="0"/>
              </a:rPr>
              <a:t>DataSet</a:t>
            </a:r>
            <a:r>
              <a:rPr lang="en-US" dirty="0" smtClean="0">
                <a:ea typeface="Times New Roman" panose="02020603050405020304" pitchFamily="18" charset="0"/>
                <a:cs typeface="Times New Roman" panose="02020603050405020304" pitchFamily="18" charset="0"/>
              </a:rPr>
              <a:t> Name</a:t>
            </a:r>
            <a:r>
              <a:rPr lang="en-US" dirty="0">
                <a:ea typeface="Times New Roman" panose="02020603050405020304" pitchFamily="18" charset="0"/>
                <a:cs typeface="Times New Roman" panose="02020603050405020304" pitchFamily="18" charset="0"/>
              </a:rPr>
              <a:t>: </a:t>
            </a:r>
            <a:r>
              <a:rPr lang="en-US" i="1" dirty="0" err="1" smtClean="0">
                <a:ea typeface="Times New Roman" panose="02020603050405020304" pitchFamily="18" charset="0"/>
                <a:cs typeface="Times New Roman" panose="02020603050405020304" pitchFamily="18" charset="0"/>
              </a:rPr>
              <a:t>Ecommerce_sales_dataset</a:t>
            </a:r>
            <a:r>
              <a:rPr lang="en-US" dirty="0" smtClean="0">
                <a:ea typeface="Times New Roman" panose="02020603050405020304" pitchFamily="18" charset="0"/>
                <a:cs typeface="Times New Roman" panose="02020603050405020304" pitchFamily="18" charset="0"/>
              </a:rPr>
              <a:t> </a:t>
            </a:r>
            <a:endParaRPr lang="en-US" sz="1600" dirty="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smtClean="0">
                <a:ea typeface="Calibri" panose="020F0502020204030204" pitchFamily="34" charset="0"/>
                <a:cs typeface="Times New Roman" panose="02020603050405020304" pitchFamily="18" charset="0"/>
              </a:rPr>
              <a:t>Format: CSV File</a:t>
            </a:r>
            <a:endParaRPr lang="en-US" sz="1600" dirty="0">
              <a:ea typeface="Calibri" panose="020F0502020204030204" pitchFamily="34" charset="0"/>
              <a:cs typeface="Times New Roman" panose="02020603050405020304" pitchFamily="18" charset="0"/>
            </a:endParaRPr>
          </a:p>
          <a:p>
            <a:pPr>
              <a:lnSpc>
                <a:spcPct val="107000"/>
              </a:lnSpc>
              <a:spcAft>
                <a:spcPts val="800"/>
              </a:spcAft>
            </a:pPr>
            <a:r>
              <a:rPr lang="en-US" b="1" dirty="0">
                <a:ea typeface="Times New Roman" panose="02020603050405020304" pitchFamily="18" charset="0"/>
                <a:cs typeface="Times New Roman" panose="02020603050405020304" pitchFamily="18" charset="0"/>
              </a:rPr>
              <a:t>Data Loading Process:</a:t>
            </a:r>
            <a:endParaRPr lang="en-US" sz="1600" dirty="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smtClean="0"/>
              <a:t>Imported </a:t>
            </a:r>
            <a:r>
              <a:rPr lang="en-US" dirty="0"/>
              <a:t>dataset into MySQL </a:t>
            </a:r>
            <a:r>
              <a:rPr lang="en-US" dirty="0" smtClean="0"/>
              <a:t>database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t>Connected database using </a:t>
            </a:r>
            <a:r>
              <a:rPr lang="en-US" dirty="0" smtClean="0"/>
              <a:t>Python</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t>Retrieved data using SQL queries</a:t>
            </a:r>
            <a:endParaRPr lang="en-US" dirty="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t>Loaded into Pandas </a:t>
            </a:r>
            <a:r>
              <a:rPr lang="en-US" dirty="0" err="1"/>
              <a:t>DataFrame</a:t>
            </a:r>
            <a:r>
              <a:rPr lang="en-US" dirty="0"/>
              <a:t> for </a:t>
            </a:r>
            <a:r>
              <a:rPr lang="en-US" dirty="0" smtClean="0"/>
              <a:t>analysis</a:t>
            </a:r>
            <a:endParaRPr lang="en-US"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32741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05622-F3E1-AC7D-1B8F-C07E3FF79F2E}"/>
              </a:ext>
            </a:extLst>
          </p:cNvPr>
          <p:cNvSpPr>
            <a:spLocks noGrp="1"/>
          </p:cNvSpPr>
          <p:nvPr>
            <p:ph type="title"/>
          </p:nvPr>
        </p:nvSpPr>
        <p:spPr>
          <a:xfrm>
            <a:off x="998220" y="222014"/>
            <a:ext cx="10515600" cy="1325563"/>
          </a:xfrm>
        </p:spPr>
        <p:txBody>
          <a:bodyPr>
            <a:normAutofit/>
          </a:bodyPr>
          <a:lstStyle/>
          <a:p>
            <a:r>
              <a:rPr lang="en-IN" b="1" u="sng" dirty="0"/>
              <a:t>DATA DESCRIPTION</a:t>
            </a:r>
          </a:p>
        </p:txBody>
      </p:sp>
      <p:graphicFrame>
        <p:nvGraphicFramePr>
          <p:cNvPr id="9" name="Content Placeholder 3">
            <a:extLst>
              <a:ext uri="{FF2B5EF4-FFF2-40B4-BE49-F238E27FC236}">
                <a16:creationId xmlns:a16="http://schemas.microsoft.com/office/drawing/2014/main" id="{887F576C-1A1C-DC88-99E4-5978C1BE2894}"/>
              </a:ext>
            </a:extLst>
          </p:cNvPr>
          <p:cNvGraphicFramePr>
            <a:graphicFrameLocks noGrp="1"/>
          </p:cNvGraphicFramePr>
          <p:nvPr>
            <p:ph sz="half" idx="1"/>
            <p:extLst>
              <p:ext uri="{D42A27DB-BD31-4B8C-83A1-F6EECF244321}">
                <p14:modId xmlns:p14="http://schemas.microsoft.com/office/powerpoint/2010/main" val="3413708832"/>
              </p:ext>
            </p:extLst>
          </p:nvPr>
        </p:nvGraphicFramePr>
        <p:xfrm>
          <a:off x="838200" y="2177456"/>
          <a:ext cx="5097780" cy="37957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a:extLst>
              <a:ext uri="{FF2B5EF4-FFF2-40B4-BE49-F238E27FC236}">
                <a16:creationId xmlns:a16="http://schemas.microsoft.com/office/drawing/2014/main" id="{CD253695-10D2-AD65-79E2-B663B89A6DCE}"/>
              </a:ext>
            </a:extLst>
          </p:cNvPr>
          <p:cNvSpPr>
            <a:spLocks noGrp="1"/>
          </p:cNvSpPr>
          <p:nvPr>
            <p:ph sz="half" idx="2"/>
          </p:nvPr>
        </p:nvSpPr>
        <p:spPr>
          <a:xfrm>
            <a:off x="6256020" y="2177456"/>
            <a:ext cx="5097780" cy="3795748"/>
          </a:xfrm>
        </p:spPr>
        <p:txBody>
          <a:bodyPr>
            <a:normAutofit/>
          </a:bodyPr>
          <a:lstStyle/>
          <a:p>
            <a:pPr fontAlgn="base">
              <a:buFont typeface="Arial" panose="020B0604020202020204" pitchFamily="34" charset="0"/>
              <a:buChar char="•"/>
            </a:pPr>
            <a:r>
              <a:rPr lang="en-US" sz="1400" b="1" dirty="0"/>
              <a:t>Product ID:</a:t>
            </a:r>
            <a:r>
              <a:rPr lang="en-US" sz="1400" dirty="0"/>
              <a:t> Unique identifier for each </a:t>
            </a:r>
            <a:r>
              <a:rPr lang="en-US" sz="1400" dirty="0" smtClean="0"/>
              <a:t>product</a:t>
            </a:r>
          </a:p>
          <a:p>
            <a:pPr fontAlgn="base">
              <a:buFont typeface="Arial" panose="020B0604020202020204" pitchFamily="34" charset="0"/>
              <a:buChar char="•"/>
            </a:pPr>
            <a:r>
              <a:rPr lang="en-US" sz="1400" b="1" i="0" u="none" strike="noStrike" dirty="0" smtClean="0">
                <a:effectLst/>
              </a:rPr>
              <a:t> Product</a:t>
            </a:r>
            <a:r>
              <a:rPr lang="en-US" sz="1400" b="1" i="0" u="none" strike="noStrike" dirty="0">
                <a:effectLst/>
              </a:rPr>
              <a:t>:</a:t>
            </a:r>
            <a:r>
              <a:rPr lang="en-US" sz="1400" b="0" i="0" u="none" strike="noStrike" dirty="0">
                <a:effectLst/>
              </a:rPr>
              <a:t> The name or description of the product ordered</a:t>
            </a:r>
            <a:r>
              <a:rPr lang="en-US" sz="1400" b="0" i="0" u="none" strike="noStrike" dirty="0" smtClean="0">
                <a:effectLst/>
              </a:rPr>
              <a:t>.</a:t>
            </a:r>
          </a:p>
          <a:p>
            <a:pPr fontAlgn="base">
              <a:buFont typeface="Arial" panose="020B0604020202020204" pitchFamily="34" charset="0"/>
              <a:buChar char="•"/>
            </a:pPr>
            <a:r>
              <a:rPr lang="en-US" sz="1400" b="1" dirty="0"/>
              <a:t>Discounted Price:</a:t>
            </a:r>
            <a:r>
              <a:rPr lang="en-US" sz="1400" dirty="0"/>
              <a:t> Price after discount</a:t>
            </a:r>
            <a:endParaRPr lang="en-US" sz="1400" b="1" i="0" u="none" strike="noStrike" dirty="0">
              <a:effectLst/>
            </a:endParaRPr>
          </a:p>
          <a:p>
            <a:pPr fontAlgn="base">
              <a:buFont typeface="Arial" panose="020B0604020202020204" pitchFamily="34" charset="0"/>
              <a:buChar char="•"/>
            </a:pPr>
            <a:r>
              <a:rPr lang="en-US" sz="1400" b="1" dirty="0"/>
              <a:t>Year / Month / Day:</a:t>
            </a:r>
            <a:r>
              <a:rPr lang="en-US" sz="1400" dirty="0"/>
              <a:t> Extracted from order date for trend analysis</a:t>
            </a:r>
            <a:endParaRPr lang="en-US" sz="1400" b="1" i="0" u="none" strike="noStrike" dirty="0">
              <a:effectLst/>
            </a:endParaRPr>
          </a:p>
          <a:p>
            <a:pPr fontAlgn="base">
              <a:buFont typeface="Arial" panose="020B0604020202020204" pitchFamily="34" charset="0"/>
              <a:buChar char="•"/>
            </a:pPr>
            <a:r>
              <a:rPr lang="en-US" sz="1400" b="1" dirty="0"/>
              <a:t>Day Name:</a:t>
            </a:r>
            <a:r>
              <a:rPr lang="en-US" sz="1400" dirty="0"/>
              <a:t> Day of the week (Mon–Sun)</a:t>
            </a:r>
            <a:endParaRPr lang="en-US" sz="1400" b="1" i="0" u="none" strike="noStrike" dirty="0">
              <a:effectLst/>
            </a:endParaRPr>
          </a:p>
          <a:p>
            <a:pPr rtl="0" fontAlgn="base">
              <a:spcBef>
                <a:spcPts val="1200"/>
              </a:spcBef>
              <a:buFont typeface="Arial" panose="020B0604020202020204" pitchFamily="34" charset="0"/>
              <a:buChar char="•"/>
            </a:pPr>
            <a:r>
              <a:rPr lang="en-US" sz="1400" b="1" i="0" u="none" strike="noStrike" dirty="0">
                <a:effectLst/>
              </a:rPr>
              <a:t>Order Quantity:</a:t>
            </a:r>
            <a:r>
              <a:rPr lang="en-US" sz="1400" b="0" i="0" u="none" strike="noStrike" dirty="0">
                <a:effectLst/>
              </a:rPr>
              <a:t> The quantity of the product </a:t>
            </a:r>
            <a:r>
              <a:rPr lang="en-US" sz="1400" b="0" i="0" u="none" strike="noStrike" dirty="0" smtClean="0">
                <a:effectLst/>
              </a:rPr>
              <a:t>ordered.</a:t>
            </a:r>
            <a:endParaRPr lang="en-US" sz="1400" b="1" dirty="0"/>
          </a:p>
          <a:p>
            <a:pPr rtl="0" fontAlgn="base">
              <a:spcBef>
                <a:spcPts val="1200"/>
              </a:spcBef>
              <a:buFont typeface="Arial" panose="020B0604020202020204" pitchFamily="34" charset="0"/>
              <a:buChar char="•"/>
            </a:pPr>
            <a:r>
              <a:rPr lang="en-US" sz="1400" b="1" dirty="0" smtClean="0"/>
              <a:t>Discount </a:t>
            </a:r>
            <a:r>
              <a:rPr lang="en-US" sz="1400" b="1" dirty="0"/>
              <a:t>Category:</a:t>
            </a:r>
            <a:r>
              <a:rPr lang="en-US" sz="1400" dirty="0"/>
              <a:t> Grouped discount levels (Low, Medium, </a:t>
            </a:r>
            <a:r>
              <a:rPr lang="en-US" sz="1400" dirty="0" smtClean="0"/>
              <a:t>High)</a:t>
            </a:r>
          </a:p>
          <a:p>
            <a:pPr rtl="0" fontAlgn="base">
              <a:spcBef>
                <a:spcPts val="1200"/>
              </a:spcBef>
              <a:buFont typeface="Arial" panose="020B0604020202020204" pitchFamily="34" charset="0"/>
              <a:buChar char="•"/>
            </a:pPr>
            <a:r>
              <a:rPr lang="en-US" sz="1400" b="1" dirty="0" smtClean="0"/>
              <a:t>Rating </a:t>
            </a:r>
            <a:r>
              <a:rPr lang="en-US" sz="1400" b="1" dirty="0"/>
              <a:t>Category:</a:t>
            </a:r>
            <a:r>
              <a:rPr lang="en-US" sz="1400" dirty="0"/>
              <a:t> Grouped ratings (Poor, Average, Good</a:t>
            </a:r>
            <a:r>
              <a:rPr lang="en-US" sz="1400" dirty="0" smtClean="0"/>
              <a:t>).</a:t>
            </a:r>
            <a:endParaRPr lang="en-US" sz="1400" b="1" i="0" u="none" strike="noStrike" dirty="0">
              <a:effectLst/>
            </a:endParaRPr>
          </a:p>
          <a:p>
            <a:pPr fontAlgn="base">
              <a:buFont typeface="Arial" panose="020B0604020202020204" pitchFamily="34" charset="0"/>
              <a:buChar char="•"/>
            </a:pPr>
            <a:r>
              <a:rPr lang="en-US" sz="1400" b="1" i="0" u="none" strike="noStrike" dirty="0" smtClean="0">
                <a:effectLst/>
              </a:rPr>
              <a:t>Review count: </a:t>
            </a:r>
            <a:r>
              <a:rPr lang="en-US" sz="1400" dirty="0" smtClean="0"/>
              <a:t>Number </a:t>
            </a:r>
            <a:r>
              <a:rPr lang="en-US" sz="1400" dirty="0"/>
              <a:t>of customer reviews</a:t>
            </a:r>
            <a:r>
              <a:rPr lang="en-US" sz="1400" b="0" i="0" u="none" strike="noStrike" dirty="0" smtClean="0">
                <a:effectLst/>
              </a:rPr>
              <a:t>.</a:t>
            </a:r>
            <a:endParaRPr lang="en-US" sz="1400" b="1" i="0" u="none" strike="noStrike" dirty="0">
              <a:effectLst/>
            </a:endParaRPr>
          </a:p>
          <a:p>
            <a:pPr rtl="0" fontAlgn="base">
              <a:spcBef>
                <a:spcPts val="1200"/>
              </a:spcBef>
              <a:spcAft>
                <a:spcPts val="1000"/>
              </a:spcAft>
              <a:buFont typeface="Arial" panose="020B0604020202020204" pitchFamily="34" charset="0"/>
              <a:buChar char="•"/>
            </a:pPr>
            <a:r>
              <a:rPr lang="en-US" sz="1400" b="1" i="0" u="none" strike="noStrike" dirty="0">
                <a:effectLst/>
              </a:rPr>
              <a:t>Rating:</a:t>
            </a:r>
            <a:r>
              <a:rPr lang="en-US" sz="1400" b="0" i="0" u="none" strike="noStrike" dirty="0">
                <a:effectLst/>
              </a:rPr>
              <a:t> Customer rating for the order on a scale (e.g., 1 to 5).</a:t>
            </a:r>
            <a:endParaRPr lang="en-US" sz="1400" b="1" i="0" u="none" strike="noStrike" dirty="0">
              <a:effectLst/>
            </a:endParaRPr>
          </a:p>
          <a:p>
            <a:pPr marL="0" indent="0">
              <a:buNone/>
            </a:pPr>
            <a:endParaRPr lang="en-IN" sz="1300" dirty="0"/>
          </a:p>
        </p:txBody>
      </p:sp>
    </p:spTree>
    <p:extLst>
      <p:ext uri="{BB962C8B-B14F-4D97-AF65-F5344CB8AC3E}">
        <p14:creationId xmlns:p14="http://schemas.microsoft.com/office/powerpoint/2010/main" val="1697590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Data Cleaning (Python)</a:t>
            </a:r>
          </a:p>
        </p:txBody>
      </p:sp>
      <p:sp>
        <p:nvSpPr>
          <p:cNvPr id="3" name="Content Placeholder 2"/>
          <p:cNvSpPr>
            <a:spLocks noGrp="1"/>
          </p:cNvSpPr>
          <p:nvPr>
            <p:ph sz="half" idx="1"/>
          </p:nvPr>
        </p:nvSpPr>
        <p:spPr/>
        <p:txBody>
          <a:bodyPr>
            <a:normAutofit/>
          </a:bodyPr>
          <a:lstStyle/>
          <a:p>
            <a:r>
              <a:rPr lang="en-US" sz="1400" b="1" dirty="0"/>
              <a:t>Problems in Raw Data</a:t>
            </a:r>
          </a:p>
          <a:p>
            <a:r>
              <a:rPr lang="en-US" sz="1400" dirty="0"/>
              <a:t>Missing values detected using </a:t>
            </a:r>
            <a:r>
              <a:rPr lang="en-US" sz="1400" b="1" dirty="0" err="1"/>
              <a:t>df.isna</a:t>
            </a:r>
            <a:r>
              <a:rPr lang="en-US" sz="1400" b="1" dirty="0"/>
              <a:t>().sum()</a:t>
            </a:r>
            <a:r>
              <a:rPr lang="en-US" sz="1400" dirty="0"/>
              <a:t> </a:t>
            </a:r>
          </a:p>
        </p:txBody>
      </p:sp>
      <p:sp>
        <p:nvSpPr>
          <p:cNvPr id="4" name="Content Placeholder 3"/>
          <p:cNvSpPr>
            <a:spLocks noGrp="1"/>
          </p:cNvSpPr>
          <p:nvPr>
            <p:ph sz="half" idx="2"/>
          </p:nvPr>
        </p:nvSpPr>
        <p:spPr/>
        <p:txBody>
          <a:bodyPr>
            <a:normAutofit/>
          </a:bodyPr>
          <a:lstStyle/>
          <a:p>
            <a:r>
              <a:rPr lang="en-US" sz="1400" dirty="0"/>
              <a:t>Removed rows with missing </a:t>
            </a:r>
            <a:r>
              <a:rPr lang="en-US" sz="1400" b="1" dirty="0"/>
              <a:t>rating</a:t>
            </a:r>
            <a:r>
              <a:rPr lang="en-US" sz="1400" dirty="0"/>
              <a:t> </a:t>
            </a:r>
          </a:p>
          <a:p>
            <a:r>
              <a:rPr lang="en-US" sz="1400" dirty="0"/>
              <a:t>Filled missing </a:t>
            </a:r>
            <a:r>
              <a:rPr lang="en-US" sz="1400" b="1" dirty="0" err="1"/>
              <a:t>product_category</a:t>
            </a:r>
            <a:r>
              <a:rPr lang="en-US" sz="1400" dirty="0"/>
              <a:t> using </a:t>
            </a:r>
            <a:r>
              <a:rPr lang="en-US" sz="1400" b="1" dirty="0"/>
              <a:t>mode (Beauty)</a:t>
            </a:r>
            <a:r>
              <a:rPr lang="en-US" sz="1400" dirty="0"/>
              <a:t> </a:t>
            </a:r>
          </a:p>
          <a:p>
            <a:r>
              <a:rPr lang="en-US" sz="1400" dirty="0"/>
              <a:t>Converted </a:t>
            </a:r>
            <a:r>
              <a:rPr lang="en-US" sz="1400" b="1" dirty="0" err="1"/>
              <a:t>order_date</a:t>
            </a:r>
            <a:r>
              <a:rPr lang="en-US" sz="1400" dirty="0"/>
              <a:t> to </a:t>
            </a:r>
            <a:r>
              <a:rPr lang="en-US" sz="1400" dirty="0" err="1"/>
              <a:t>datetime</a:t>
            </a:r>
            <a:r>
              <a:rPr lang="en-US" sz="1400" dirty="0"/>
              <a:t> format </a:t>
            </a:r>
          </a:p>
          <a:p>
            <a:r>
              <a:rPr lang="en-US" sz="1400" dirty="0"/>
              <a:t>Checked and removed duplicate records </a:t>
            </a:r>
          </a:p>
          <a:p>
            <a:r>
              <a:rPr lang="en-US" sz="1400" dirty="0"/>
              <a:t>Validated numeric columns for consistency </a:t>
            </a:r>
          </a:p>
        </p:txBody>
      </p:sp>
      <p:pic>
        <p:nvPicPr>
          <p:cNvPr id="6" name="Picture 5"/>
          <p:cNvPicPr>
            <a:picLocks noChangeAspect="1"/>
          </p:cNvPicPr>
          <p:nvPr/>
        </p:nvPicPr>
        <p:blipFill>
          <a:blip r:embed="rId2"/>
          <a:stretch>
            <a:fillRect/>
          </a:stretch>
        </p:blipFill>
        <p:spPr>
          <a:xfrm>
            <a:off x="914398" y="2631233"/>
            <a:ext cx="2901820" cy="3415143"/>
          </a:xfrm>
          <a:prstGeom prst="rect">
            <a:avLst/>
          </a:prstGeom>
        </p:spPr>
      </p:pic>
      <p:pic>
        <p:nvPicPr>
          <p:cNvPr id="7" name="Picture 6"/>
          <p:cNvPicPr>
            <a:picLocks noChangeAspect="1"/>
          </p:cNvPicPr>
          <p:nvPr/>
        </p:nvPicPr>
        <p:blipFill>
          <a:blip r:embed="rId3"/>
          <a:stretch>
            <a:fillRect/>
          </a:stretch>
        </p:blipFill>
        <p:spPr>
          <a:xfrm>
            <a:off x="3999099" y="3224184"/>
            <a:ext cx="6026511" cy="610698"/>
          </a:xfrm>
          <a:prstGeom prst="rect">
            <a:avLst/>
          </a:prstGeom>
        </p:spPr>
      </p:pic>
      <p:pic>
        <p:nvPicPr>
          <p:cNvPr id="8" name="Picture 7"/>
          <p:cNvPicPr>
            <a:picLocks noChangeAspect="1"/>
          </p:cNvPicPr>
          <p:nvPr/>
        </p:nvPicPr>
        <p:blipFill>
          <a:blip r:embed="rId4"/>
          <a:stretch>
            <a:fillRect/>
          </a:stretch>
        </p:blipFill>
        <p:spPr>
          <a:xfrm>
            <a:off x="4148388" y="4043749"/>
            <a:ext cx="5515745" cy="1476581"/>
          </a:xfrm>
          <a:prstGeom prst="rect">
            <a:avLst/>
          </a:prstGeom>
        </p:spPr>
      </p:pic>
    </p:spTree>
    <p:extLst>
      <p:ext uri="{BB962C8B-B14F-4D97-AF65-F5344CB8AC3E}">
        <p14:creationId xmlns:p14="http://schemas.microsoft.com/office/powerpoint/2010/main" val="2848681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422708" y="599812"/>
            <a:ext cx="10867334" cy="5343788"/>
          </a:xfrm>
          <a:prstGeom prst="rect">
            <a:avLst/>
          </a:prstGeom>
        </p:spPr>
      </p:pic>
      <p:sp>
        <p:nvSpPr>
          <p:cNvPr id="10" name="Rectangle 9"/>
          <p:cNvSpPr/>
          <p:nvPr/>
        </p:nvSpPr>
        <p:spPr>
          <a:xfrm>
            <a:off x="1502228" y="261257"/>
            <a:ext cx="7641771" cy="338554"/>
          </a:xfrm>
          <a:prstGeom prst="rect">
            <a:avLst/>
          </a:prstGeom>
        </p:spPr>
        <p:txBody>
          <a:bodyPr wrap="square">
            <a:spAutoFit/>
          </a:bodyPr>
          <a:lstStyle/>
          <a:p>
            <a:r>
              <a:rPr lang="en-US" sz="1600" dirty="0"/>
              <a:t>No duplicate records found in the dataset (0 duplicates). Data is clean and consistent.</a:t>
            </a:r>
          </a:p>
        </p:txBody>
      </p:sp>
    </p:spTree>
    <p:extLst>
      <p:ext uri="{BB962C8B-B14F-4D97-AF65-F5344CB8AC3E}">
        <p14:creationId xmlns:p14="http://schemas.microsoft.com/office/powerpoint/2010/main" val="3437865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514" y="286604"/>
            <a:ext cx="10633166" cy="629663"/>
          </a:xfrm>
        </p:spPr>
        <p:txBody>
          <a:bodyPr>
            <a:normAutofit/>
          </a:bodyPr>
          <a:lstStyle/>
          <a:p>
            <a:r>
              <a:rPr lang="en-US" sz="3200" b="1" dirty="0"/>
              <a:t>Feature </a:t>
            </a:r>
            <a:r>
              <a:rPr lang="en-US" sz="3200" b="1" dirty="0" smtClean="0"/>
              <a:t>Engineering</a:t>
            </a:r>
            <a:endParaRPr lang="en-US" sz="3200" b="1" dirty="0"/>
          </a:p>
        </p:txBody>
      </p:sp>
      <p:sp>
        <p:nvSpPr>
          <p:cNvPr id="3" name="Content Placeholder 2"/>
          <p:cNvSpPr>
            <a:spLocks noGrp="1"/>
          </p:cNvSpPr>
          <p:nvPr>
            <p:ph sz="half" idx="1"/>
          </p:nvPr>
        </p:nvSpPr>
        <p:spPr>
          <a:xfrm>
            <a:off x="671804" y="1017038"/>
            <a:ext cx="5363235" cy="2015412"/>
          </a:xfrm>
        </p:spPr>
        <p:txBody>
          <a:bodyPr>
            <a:normAutofit lnSpcReduction="10000"/>
          </a:bodyPr>
          <a:lstStyle/>
          <a:p>
            <a:pPr>
              <a:buFont typeface="Arial" panose="020B0604020202020204" pitchFamily="34" charset="0"/>
              <a:buChar char="•"/>
            </a:pPr>
            <a:r>
              <a:rPr lang="en-US" dirty="0"/>
              <a:t>Extracted Year, Month, Day from </a:t>
            </a:r>
            <a:r>
              <a:rPr lang="en-US" dirty="0" err="1" smtClean="0"/>
              <a:t>order_date</a:t>
            </a:r>
            <a:endParaRPr lang="en-US" dirty="0" smtClean="0"/>
          </a:p>
          <a:p>
            <a:pPr>
              <a:buFont typeface="Arial" panose="020B0604020202020204" pitchFamily="34" charset="0"/>
              <a:buChar char="•"/>
            </a:pPr>
            <a:r>
              <a:rPr lang="en-US" dirty="0" smtClean="0"/>
              <a:t>Created </a:t>
            </a:r>
            <a:r>
              <a:rPr lang="en-US" dirty="0"/>
              <a:t>Day Name (Monday–Sunday</a:t>
            </a:r>
            <a:r>
              <a:rPr lang="en-US" dirty="0" smtClean="0"/>
              <a:t>)</a:t>
            </a:r>
          </a:p>
          <a:p>
            <a:pPr>
              <a:buFont typeface="Arial" panose="020B0604020202020204" pitchFamily="34" charset="0"/>
              <a:buChar char="•"/>
            </a:pPr>
            <a:r>
              <a:rPr lang="en-US" dirty="0" smtClean="0"/>
              <a:t>Created </a:t>
            </a:r>
            <a:r>
              <a:rPr lang="en-US" dirty="0"/>
              <a:t>Discount Category (Low, Medium, High</a:t>
            </a:r>
            <a:r>
              <a:rPr lang="en-US" dirty="0" smtClean="0"/>
              <a:t>)</a:t>
            </a:r>
          </a:p>
          <a:p>
            <a:pPr>
              <a:buFont typeface="Arial" panose="020B0604020202020204" pitchFamily="34" charset="0"/>
              <a:buChar char="•"/>
            </a:pPr>
            <a:r>
              <a:rPr lang="en-US" dirty="0" smtClean="0"/>
              <a:t>Created </a:t>
            </a:r>
            <a:r>
              <a:rPr lang="en-US" dirty="0"/>
              <a:t>Rating Category </a:t>
            </a:r>
            <a:r>
              <a:rPr lang="en-US" dirty="0" smtClean="0"/>
              <a:t>(Low, Medium, High)</a:t>
            </a:r>
          </a:p>
          <a:p>
            <a:pPr marL="0" indent="0">
              <a:buNone/>
            </a:pPr>
            <a:endParaRPr lang="en-US" dirty="0"/>
          </a:p>
        </p:txBody>
      </p:sp>
      <p:sp>
        <p:nvSpPr>
          <p:cNvPr id="4" name="Content Placeholder 3"/>
          <p:cNvSpPr>
            <a:spLocks noGrp="1"/>
          </p:cNvSpPr>
          <p:nvPr>
            <p:ph sz="half" idx="2"/>
          </p:nvPr>
        </p:nvSpPr>
        <p:spPr>
          <a:xfrm>
            <a:off x="6024650" y="1017038"/>
            <a:ext cx="5131030" cy="2313992"/>
          </a:xfrm>
        </p:spPr>
        <p:txBody>
          <a:bodyPr>
            <a:normAutofit lnSpcReduction="10000"/>
          </a:bodyPr>
          <a:lstStyle/>
          <a:p>
            <a:pPr>
              <a:buFont typeface="Arial" panose="020B0604020202020204" pitchFamily="34" charset="0"/>
              <a:buChar char="•"/>
            </a:pPr>
            <a:r>
              <a:rPr lang="en-US" dirty="0"/>
              <a:t>Helps analyze monthly &amp; yearly </a:t>
            </a:r>
            <a:r>
              <a:rPr lang="en-US" dirty="0" smtClean="0"/>
              <a:t>trends</a:t>
            </a:r>
          </a:p>
          <a:p>
            <a:pPr>
              <a:buFont typeface="Arial" panose="020B0604020202020204" pitchFamily="34" charset="0"/>
              <a:buChar char="•"/>
            </a:pPr>
            <a:r>
              <a:rPr lang="en-US" dirty="0" smtClean="0"/>
              <a:t>Identifies </a:t>
            </a:r>
            <a:r>
              <a:rPr lang="en-US" dirty="0"/>
              <a:t>best performing </a:t>
            </a:r>
            <a:r>
              <a:rPr lang="en-US" dirty="0" smtClean="0"/>
              <a:t>days</a:t>
            </a:r>
          </a:p>
          <a:p>
            <a:pPr>
              <a:buFont typeface="Arial" panose="020B0604020202020204" pitchFamily="34" charset="0"/>
              <a:buChar char="•"/>
            </a:pPr>
            <a:r>
              <a:rPr lang="en-US" dirty="0" smtClean="0"/>
              <a:t>Segments </a:t>
            </a:r>
            <a:r>
              <a:rPr lang="en-US" dirty="0"/>
              <a:t>data based on discount </a:t>
            </a:r>
            <a:r>
              <a:rPr lang="en-US" dirty="0" smtClean="0"/>
              <a:t>levels</a:t>
            </a:r>
          </a:p>
          <a:p>
            <a:pPr>
              <a:buFont typeface="Arial" panose="020B0604020202020204" pitchFamily="34" charset="0"/>
              <a:buChar char="•"/>
            </a:pPr>
            <a:r>
              <a:rPr lang="en-US" dirty="0" smtClean="0"/>
              <a:t>Improves </a:t>
            </a:r>
            <a:r>
              <a:rPr lang="en-US" dirty="0"/>
              <a:t>understanding of customer </a:t>
            </a:r>
            <a:r>
              <a:rPr lang="en-US" dirty="0" smtClean="0"/>
              <a:t>satisfaction</a:t>
            </a:r>
          </a:p>
          <a:p>
            <a:pPr>
              <a:buFont typeface="Arial" panose="020B0604020202020204" pitchFamily="34" charset="0"/>
              <a:buChar char="•"/>
            </a:pPr>
            <a:r>
              <a:rPr lang="en-US" dirty="0" smtClean="0"/>
              <a:t>Enhances </a:t>
            </a:r>
            <a:r>
              <a:rPr lang="en-US" dirty="0"/>
              <a:t>data for better insights and visualization</a:t>
            </a:r>
          </a:p>
        </p:txBody>
      </p:sp>
      <p:pic>
        <p:nvPicPr>
          <p:cNvPr id="10" name="Picture 9"/>
          <p:cNvPicPr>
            <a:picLocks noChangeAspect="1"/>
          </p:cNvPicPr>
          <p:nvPr/>
        </p:nvPicPr>
        <p:blipFill>
          <a:blip r:embed="rId2"/>
          <a:stretch>
            <a:fillRect/>
          </a:stretch>
        </p:blipFill>
        <p:spPr>
          <a:xfrm>
            <a:off x="671805" y="2696546"/>
            <a:ext cx="4590660" cy="1614197"/>
          </a:xfrm>
          <a:prstGeom prst="rect">
            <a:avLst/>
          </a:prstGeom>
        </p:spPr>
      </p:pic>
      <p:pic>
        <p:nvPicPr>
          <p:cNvPr id="11" name="Picture 10"/>
          <p:cNvPicPr>
            <a:picLocks noChangeAspect="1"/>
          </p:cNvPicPr>
          <p:nvPr/>
        </p:nvPicPr>
        <p:blipFill>
          <a:blip r:embed="rId3"/>
          <a:stretch>
            <a:fillRect/>
          </a:stretch>
        </p:blipFill>
        <p:spPr>
          <a:xfrm>
            <a:off x="6120883" y="3228392"/>
            <a:ext cx="4494428" cy="2827175"/>
          </a:xfrm>
          <a:prstGeom prst="rect">
            <a:avLst/>
          </a:prstGeom>
        </p:spPr>
      </p:pic>
      <p:pic>
        <p:nvPicPr>
          <p:cNvPr id="13" name="Picture 12"/>
          <p:cNvPicPr>
            <a:picLocks noChangeAspect="1"/>
          </p:cNvPicPr>
          <p:nvPr/>
        </p:nvPicPr>
        <p:blipFill>
          <a:blip r:embed="rId4"/>
          <a:stretch>
            <a:fillRect/>
          </a:stretch>
        </p:blipFill>
        <p:spPr>
          <a:xfrm>
            <a:off x="886407" y="4413380"/>
            <a:ext cx="4376057" cy="1808278"/>
          </a:xfrm>
          <a:prstGeom prst="rect">
            <a:avLst/>
          </a:prstGeom>
        </p:spPr>
      </p:pic>
    </p:spTree>
    <p:extLst>
      <p:ext uri="{BB962C8B-B14F-4D97-AF65-F5344CB8AC3E}">
        <p14:creationId xmlns:p14="http://schemas.microsoft.com/office/powerpoint/2010/main" val="2942814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58612"/>
            <a:ext cx="10058400" cy="1047674"/>
          </a:xfrm>
        </p:spPr>
        <p:txBody>
          <a:bodyPr>
            <a:normAutofit/>
          </a:bodyPr>
          <a:lstStyle/>
          <a:p>
            <a:r>
              <a:rPr lang="en-US" sz="4000" dirty="0"/>
              <a:t>EDA (Exploratory Data Analysis)</a:t>
            </a:r>
          </a:p>
        </p:txBody>
      </p:sp>
      <p:sp>
        <p:nvSpPr>
          <p:cNvPr id="3" name="Content Placeholder 2"/>
          <p:cNvSpPr>
            <a:spLocks noGrp="1"/>
          </p:cNvSpPr>
          <p:nvPr>
            <p:ph sz="half" idx="1"/>
          </p:nvPr>
        </p:nvSpPr>
        <p:spPr>
          <a:xfrm>
            <a:off x="1097279" y="1306286"/>
            <a:ext cx="4937760" cy="4618792"/>
          </a:xfrm>
        </p:spPr>
        <p:txBody>
          <a:bodyPr>
            <a:normAutofit fontScale="70000" lnSpcReduction="20000"/>
          </a:bodyPr>
          <a:lstStyle/>
          <a:p>
            <a:pPr marL="0" indent="0">
              <a:buNone/>
            </a:pPr>
            <a:r>
              <a:rPr lang="en-US" b="1" dirty="0"/>
              <a:t>1)  Sales Overview (KPIs</a:t>
            </a:r>
          </a:p>
          <a:p>
            <a:pPr marL="0" indent="0">
              <a:buNone/>
            </a:pPr>
            <a:r>
              <a:rPr lang="en-US" b="1" dirty="0"/>
              <a:t>  </a:t>
            </a:r>
            <a:r>
              <a:rPr lang="en-US" dirty="0"/>
              <a:t>   Total Orders: </a:t>
            </a:r>
            <a:r>
              <a:rPr lang="en-US" b="1" dirty="0" smtClean="0"/>
              <a:t>49,850</a:t>
            </a:r>
          </a:p>
          <a:p>
            <a:pPr marL="0" indent="0">
              <a:buNone/>
            </a:pPr>
            <a:endParaRPr lang="en-US" b="1" dirty="0" smtClean="0"/>
          </a:p>
          <a:p>
            <a:pPr marL="0" indent="0">
              <a:buNone/>
            </a:pPr>
            <a:r>
              <a:rPr lang="en-US" dirty="0"/>
              <a:t>2)  </a:t>
            </a:r>
            <a:r>
              <a:rPr lang="en-US" b="1" dirty="0"/>
              <a:t>Total Revenue</a:t>
            </a:r>
            <a:r>
              <a:rPr lang="en-US" dirty="0"/>
              <a:t>: </a:t>
            </a:r>
            <a:r>
              <a:rPr lang="en-US" b="1" dirty="0"/>
              <a:t>~</a:t>
            </a:r>
            <a:r>
              <a:rPr lang="en-US" b="1" dirty="0" smtClean="0"/>
              <a:t>32.7M</a:t>
            </a:r>
          </a:p>
          <a:p>
            <a:pPr marL="0" indent="0">
              <a:buNone/>
            </a:pPr>
            <a:endParaRPr lang="en-US" dirty="0" smtClean="0"/>
          </a:p>
          <a:p>
            <a:pPr marL="0" indent="0">
              <a:buNone/>
            </a:pPr>
            <a:r>
              <a:rPr lang="en-US" b="1" dirty="0" smtClean="0"/>
              <a:t>3) </a:t>
            </a:r>
            <a:r>
              <a:rPr lang="en-US" b="1" dirty="0"/>
              <a:t>High Revenue but Low Rating Products</a:t>
            </a:r>
          </a:p>
          <a:p>
            <a:pPr marL="0" indent="0">
              <a:buNone/>
            </a:pPr>
            <a:r>
              <a:rPr lang="en-US" dirty="0"/>
              <a:t>• Identified products generating </a:t>
            </a:r>
            <a:r>
              <a:rPr lang="en-US" b="1" dirty="0"/>
              <a:t>high revenue despite low ratings </a:t>
            </a:r>
          </a:p>
          <a:p>
            <a:pPr marL="0" indent="0">
              <a:buNone/>
            </a:pPr>
            <a:r>
              <a:rPr lang="en-US" b="1" dirty="0" smtClean="0"/>
              <a:t> </a:t>
            </a:r>
            <a:r>
              <a:rPr lang="en-US" b="1" dirty="0"/>
              <a:t>4)Revenue by Day of Week</a:t>
            </a:r>
          </a:p>
          <a:p>
            <a:pPr marL="0" indent="0">
              <a:buNone/>
            </a:pPr>
            <a:r>
              <a:rPr lang="en-US" dirty="0"/>
              <a:t>• </a:t>
            </a:r>
            <a:r>
              <a:rPr lang="en-US" b="1" dirty="0"/>
              <a:t>Friday (~4.86M)</a:t>
            </a:r>
            <a:r>
              <a:rPr lang="en-US" dirty="0"/>
              <a:t> has the highest sales</a:t>
            </a:r>
            <a:br>
              <a:rPr lang="en-US" dirty="0"/>
            </a:br>
            <a:r>
              <a:rPr lang="en-US" dirty="0"/>
              <a:t>• </a:t>
            </a:r>
            <a:r>
              <a:rPr lang="en-US" b="1" dirty="0"/>
              <a:t>Monday (~4.59M)</a:t>
            </a:r>
            <a:r>
              <a:rPr lang="en-US" dirty="0"/>
              <a:t> has the lowest sales</a:t>
            </a:r>
          </a:p>
          <a:p>
            <a:pPr marL="0" indent="0">
              <a:buNone/>
            </a:pPr>
            <a:endParaRPr lang="en-US" dirty="0"/>
          </a:p>
          <a:p>
            <a:pPr marL="0" indent="0">
              <a:buNone/>
            </a:pPr>
            <a:r>
              <a:rPr lang="en-US" b="1" dirty="0"/>
              <a:t>4. Average Sales Trend by Day</a:t>
            </a:r>
          </a:p>
          <a:p>
            <a:pPr marL="0" indent="0">
              <a:buNone/>
            </a:pPr>
            <a:r>
              <a:rPr lang="en-US" dirty="0"/>
              <a:t>• Sales remain relatively </a:t>
            </a:r>
            <a:r>
              <a:rPr lang="en-US" b="1" dirty="0"/>
              <a:t>consistent across all days (~650 </a:t>
            </a:r>
            <a:r>
              <a:rPr lang="en-US" b="1" dirty="0" err="1"/>
              <a:t>avg</a:t>
            </a:r>
            <a:r>
              <a:rPr lang="en-US" b="1" dirty="0"/>
              <a:t> revenue)</a:t>
            </a:r>
            <a:endParaRPr lang="en-US" dirty="0"/>
          </a:p>
          <a:p>
            <a:endParaRPr lang="en-US" dirty="0"/>
          </a:p>
          <a:p>
            <a:endParaRPr lang="en-US" dirty="0"/>
          </a:p>
          <a:p>
            <a:endParaRPr lang="en-US" b="1" dirty="0"/>
          </a:p>
          <a:p>
            <a:endParaRPr lang="en-US" b="1" dirty="0"/>
          </a:p>
        </p:txBody>
      </p:sp>
      <p:pic>
        <p:nvPicPr>
          <p:cNvPr id="5" name="Content Placeholder 4"/>
          <p:cNvPicPr>
            <a:picLocks noGrp="1" noChangeAspect="1"/>
          </p:cNvPicPr>
          <p:nvPr>
            <p:ph sz="half" idx="2"/>
          </p:nvPr>
        </p:nvPicPr>
        <p:blipFill>
          <a:blip r:embed="rId2"/>
          <a:stretch>
            <a:fillRect/>
          </a:stretch>
        </p:blipFill>
        <p:spPr>
          <a:xfrm>
            <a:off x="6035039" y="1306286"/>
            <a:ext cx="2372056" cy="857370"/>
          </a:xfrm>
          <a:prstGeom prst="rect">
            <a:avLst/>
          </a:prstGeom>
        </p:spPr>
      </p:pic>
      <p:pic>
        <p:nvPicPr>
          <p:cNvPr id="6" name="Picture 5"/>
          <p:cNvPicPr>
            <a:picLocks noChangeAspect="1"/>
          </p:cNvPicPr>
          <p:nvPr/>
        </p:nvPicPr>
        <p:blipFill>
          <a:blip r:embed="rId3"/>
          <a:stretch>
            <a:fillRect/>
          </a:stretch>
        </p:blipFill>
        <p:spPr>
          <a:xfrm>
            <a:off x="5840424" y="2163656"/>
            <a:ext cx="3829584" cy="924054"/>
          </a:xfrm>
          <a:prstGeom prst="rect">
            <a:avLst/>
          </a:prstGeom>
        </p:spPr>
      </p:pic>
      <p:pic>
        <p:nvPicPr>
          <p:cNvPr id="9" name="Picture 8"/>
          <p:cNvPicPr>
            <a:picLocks noChangeAspect="1"/>
          </p:cNvPicPr>
          <p:nvPr/>
        </p:nvPicPr>
        <p:blipFill>
          <a:blip r:embed="rId4"/>
          <a:stretch>
            <a:fillRect/>
          </a:stretch>
        </p:blipFill>
        <p:spPr>
          <a:xfrm>
            <a:off x="5958120" y="3051987"/>
            <a:ext cx="4677428" cy="2873091"/>
          </a:xfrm>
          <a:prstGeom prst="rect">
            <a:avLst/>
          </a:prstGeom>
        </p:spPr>
      </p:pic>
    </p:spTree>
    <p:extLst>
      <p:ext uri="{BB962C8B-B14F-4D97-AF65-F5344CB8AC3E}">
        <p14:creationId xmlns:p14="http://schemas.microsoft.com/office/powerpoint/2010/main" val="563348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D379150-F6B4-45C8-BE10-6B278AD400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26" name="Rectangle 25">
            <a:extLst>
              <a:ext uri="{FF2B5EF4-FFF2-40B4-BE49-F238E27FC236}">
                <a16:creationId xmlns:a16="http://schemas.microsoft.com/office/drawing/2014/main" id="{5FFCF544-A370-4A5D-A95F-CA6E0E7191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cxnSp>
        <p:nvCxnSpPr>
          <p:cNvPr id="27" name="Straight Connector 26">
            <a:extLst>
              <a:ext uri="{FF2B5EF4-FFF2-40B4-BE49-F238E27FC236}">
                <a16:creationId xmlns:a16="http://schemas.microsoft.com/office/drawing/2014/main" id="{6EEB3B97-A638-498B-8083-54191CE71E0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8" name="Rectangle 27">
            <a:extLst>
              <a:ext uri="{FF2B5EF4-FFF2-40B4-BE49-F238E27FC236}">
                <a16:creationId xmlns:a16="http://schemas.microsoft.com/office/drawing/2014/main" id="{C33BF9DD-8A45-4EEE-B231-0A14D322E5F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429E39-76F9-9CE7-02C2-233C239ECD16}"/>
              </a:ext>
            </a:extLst>
          </p:cNvPr>
          <p:cNvSpPr>
            <a:spLocks noGrp="1"/>
          </p:cNvSpPr>
          <p:nvPr>
            <p:ph type="title"/>
          </p:nvPr>
        </p:nvSpPr>
        <p:spPr>
          <a:xfrm>
            <a:off x="4974771" y="634946"/>
            <a:ext cx="6574972" cy="1450757"/>
          </a:xfrm>
        </p:spPr>
        <p:txBody>
          <a:bodyPr vert="horz" lIns="91440" tIns="45720" rIns="91440" bIns="45720" rtlCol="0" anchor="b">
            <a:normAutofit/>
          </a:bodyPr>
          <a:lstStyle/>
          <a:p>
            <a:r>
              <a:rPr lang="en-US" b="1" u="sng" dirty="0"/>
              <a:t>Total </a:t>
            </a:r>
            <a:r>
              <a:rPr lang="en-US" b="1" u="sng" dirty="0" smtClean="0"/>
              <a:t>Revenue </a:t>
            </a:r>
            <a:r>
              <a:rPr lang="en-US" b="1" u="sng" dirty="0"/>
              <a:t>By Product Category</a:t>
            </a:r>
          </a:p>
        </p:txBody>
      </p:sp>
      <p:cxnSp>
        <p:nvCxnSpPr>
          <p:cNvPr id="29" name="Straight Connector 28">
            <a:extLst>
              <a:ext uri="{FF2B5EF4-FFF2-40B4-BE49-F238E27FC236}">
                <a16:creationId xmlns:a16="http://schemas.microsoft.com/office/drawing/2014/main" id="{9020DCC9-F851-4562-BB20-1AB3C51BFD08}"/>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B502599C-55A1-D897-3022-27660752D783}"/>
              </a:ext>
            </a:extLst>
          </p:cNvPr>
          <p:cNvSpPr>
            <a:spLocks noGrp="1"/>
          </p:cNvSpPr>
          <p:nvPr>
            <p:ph sz="half" idx="2"/>
          </p:nvPr>
        </p:nvSpPr>
        <p:spPr>
          <a:xfrm>
            <a:off x="4974769" y="2198914"/>
            <a:ext cx="6574973" cy="3670180"/>
          </a:xfrm>
        </p:spPr>
        <p:txBody>
          <a:bodyPr vert="horz" lIns="0" tIns="45720" rIns="0" bIns="45720" rtlCol="0">
            <a:normAutofit/>
          </a:bodyPr>
          <a:lstStyle/>
          <a:p>
            <a:r>
              <a:rPr lang="en-US" sz="1800" b="1" dirty="0" smtClean="0"/>
              <a:t>Beauty </a:t>
            </a:r>
            <a:r>
              <a:rPr lang="en-US" sz="1800" b="1" dirty="0"/>
              <a:t>(~6.9M)</a:t>
            </a:r>
            <a:r>
              <a:rPr lang="en-US" sz="1800" dirty="0"/>
              <a:t> is the highest revenue-generating category, making it the </a:t>
            </a:r>
            <a:r>
              <a:rPr lang="en-US" sz="1800" b="1" dirty="0"/>
              <a:t>top-performing segment</a:t>
            </a:r>
            <a:r>
              <a:rPr lang="en-US" sz="1800" dirty="0"/>
              <a:t>.</a:t>
            </a:r>
            <a:br>
              <a:rPr lang="en-US" sz="1800" dirty="0"/>
            </a:br>
            <a:r>
              <a:rPr lang="en-US" sz="1800" dirty="0"/>
              <a:t>This indicates strong customer demand, and focused marketing efforts in this category can further drive sales growth.</a:t>
            </a:r>
            <a:endParaRPr lang="en-US" sz="1700" dirty="0"/>
          </a:p>
          <a:p>
            <a:r>
              <a:rPr lang="en-US" sz="1800" b="1" dirty="0" smtClean="0"/>
              <a:t>Books </a:t>
            </a:r>
            <a:r>
              <a:rPr lang="en-US" sz="1800" b="1" dirty="0"/>
              <a:t>(~5.2M), Home &amp; Kitchen (~5.2M), and Fashion (~5.2M)</a:t>
            </a:r>
            <a:r>
              <a:rPr lang="en-US" sz="1800" dirty="0"/>
              <a:t> show </a:t>
            </a:r>
            <a:r>
              <a:rPr lang="en-US" sz="1800" b="1" dirty="0"/>
              <a:t>consistent and moderate performance</a:t>
            </a:r>
            <a:r>
              <a:rPr lang="en-US" sz="1800" dirty="0"/>
              <a:t>.</a:t>
            </a:r>
            <a:br>
              <a:rPr lang="en-US" sz="1800" dirty="0"/>
            </a:br>
            <a:r>
              <a:rPr lang="en-US" sz="1800" dirty="0"/>
              <a:t>These categories contribute significantly to overall revenue and can be improved further through targeted promotions and seasonal campaigns.</a:t>
            </a:r>
          </a:p>
          <a:p>
            <a:r>
              <a:rPr lang="en-US" sz="1800" b="1" dirty="0"/>
              <a:t>Electronics (~5.1M) and Sports (~5.1M)</a:t>
            </a:r>
            <a:r>
              <a:rPr lang="en-US" sz="1800" dirty="0"/>
              <a:t> generate slightly lower revenue compared to other categories.</a:t>
            </a:r>
            <a:br>
              <a:rPr lang="en-US" sz="1800" dirty="0"/>
            </a:br>
            <a:r>
              <a:rPr lang="en-US" sz="1800" dirty="0"/>
              <a:t>This suggests </a:t>
            </a:r>
            <a:r>
              <a:rPr lang="en-US" sz="1800" b="1" dirty="0"/>
              <a:t>opportunities for growth</a:t>
            </a:r>
            <a:r>
              <a:rPr lang="en-US" sz="1800" dirty="0"/>
              <a:t> through better pricing strategies, discounts, and improved marketing visibility</a:t>
            </a:r>
            <a:r>
              <a:rPr lang="en-US" sz="1800" dirty="0" smtClean="0"/>
              <a:t>.</a:t>
            </a:r>
            <a:endParaRPr lang="en-US" sz="1800" dirty="0"/>
          </a:p>
        </p:txBody>
      </p:sp>
      <p:sp>
        <p:nvSpPr>
          <p:cNvPr id="30" name="Rectangle 29">
            <a:extLst>
              <a:ext uri="{FF2B5EF4-FFF2-40B4-BE49-F238E27FC236}">
                <a16:creationId xmlns:a16="http://schemas.microsoft.com/office/drawing/2014/main" id="{D5FBCAC9-BD8B-4F3B-AD74-EF37D421134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31" name="Rectangle 30">
            <a:extLst>
              <a:ext uri="{FF2B5EF4-FFF2-40B4-BE49-F238E27FC236}">
                <a16:creationId xmlns:a16="http://schemas.microsoft.com/office/drawing/2014/main" id="{9556C5A8-AD7E-4CE7-87BE-9EA3B5E1786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pic>
        <p:nvPicPr>
          <p:cNvPr id="4" name="Content Placeholder 3"/>
          <p:cNvPicPr>
            <a:picLocks noGrp="1" noChangeAspect="1"/>
          </p:cNvPicPr>
          <p:nvPr>
            <p:ph sz="half" idx="1"/>
          </p:nvPr>
        </p:nvPicPr>
        <p:blipFill>
          <a:blip r:embed="rId2"/>
          <a:stretch>
            <a:fillRect/>
          </a:stretch>
        </p:blipFill>
        <p:spPr>
          <a:xfrm>
            <a:off x="956192" y="951723"/>
            <a:ext cx="3629326" cy="4282750"/>
          </a:xfrm>
          <a:prstGeom prst="rect">
            <a:avLst/>
          </a:prstGeom>
        </p:spPr>
      </p:pic>
    </p:spTree>
    <p:extLst>
      <p:ext uri="{BB962C8B-B14F-4D97-AF65-F5344CB8AC3E}">
        <p14:creationId xmlns:p14="http://schemas.microsoft.com/office/powerpoint/2010/main" val="1285460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D379150-F6B4-45C8-BE10-6B278AD400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13" name="Rectangle 12">
            <a:extLst>
              <a:ext uri="{FF2B5EF4-FFF2-40B4-BE49-F238E27FC236}">
                <a16:creationId xmlns:a16="http://schemas.microsoft.com/office/drawing/2014/main" id="{5FFCF544-A370-4A5D-A95F-CA6E0E7191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cxnSp>
        <p:nvCxnSpPr>
          <p:cNvPr id="15" name="Straight Connector 14">
            <a:extLst>
              <a:ext uri="{FF2B5EF4-FFF2-40B4-BE49-F238E27FC236}">
                <a16:creationId xmlns:a16="http://schemas.microsoft.com/office/drawing/2014/main" id="{6EEB3B97-A638-498B-8083-54191CE71E0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284B70D5-875B-433D-BDBD-1522A85D6C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344CBC-4B21-9645-4CD7-9A7F2D84E795}"/>
              </a:ext>
            </a:extLst>
          </p:cNvPr>
          <p:cNvSpPr>
            <a:spLocks noGrp="1"/>
          </p:cNvSpPr>
          <p:nvPr>
            <p:ph type="title"/>
          </p:nvPr>
        </p:nvSpPr>
        <p:spPr>
          <a:xfrm>
            <a:off x="7859485" y="587830"/>
            <a:ext cx="3690257" cy="1384663"/>
          </a:xfrm>
        </p:spPr>
        <p:txBody>
          <a:bodyPr vert="horz" lIns="91440" tIns="45720" rIns="91440" bIns="45720" rtlCol="0" anchor="b">
            <a:normAutofit/>
          </a:bodyPr>
          <a:lstStyle/>
          <a:p>
            <a:r>
              <a:rPr lang="en-US" sz="4000" b="1" u="sng" dirty="0"/>
              <a:t>Total Revenue By </a:t>
            </a:r>
            <a:r>
              <a:rPr lang="en-US" sz="4000" b="1" u="sng" dirty="0" smtClean="0"/>
              <a:t>Payment Method</a:t>
            </a:r>
            <a:endParaRPr lang="en-US" sz="4000" b="1" u="sng" dirty="0"/>
          </a:p>
        </p:txBody>
      </p:sp>
      <p:cxnSp>
        <p:nvCxnSpPr>
          <p:cNvPr id="19" name="Straight Connector 18">
            <a:extLst>
              <a:ext uri="{FF2B5EF4-FFF2-40B4-BE49-F238E27FC236}">
                <a16:creationId xmlns:a16="http://schemas.microsoft.com/office/drawing/2014/main" id="{C947DF4A-614C-4B4C-8B80-E5B9D8E8CFE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E3DE719-A36B-58DB-8B86-49E92631D77B}"/>
              </a:ext>
            </a:extLst>
          </p:cNvPr>
          <p:cNvSpPr>
            <a:spLocks noGrp="1"/>
          </p:cNvSpPr>
          <p:nvPr>
            <p:ph sz="half" idx="2"/>
          </p:nvPr>
        </p:nvSpPr>
        <p:spPr>
          <a:xfrm>
            <a:off x="7859485" y="2198914"/>
            <a:ext cx="3690257" cy="3670180"/>
          </a:xfrm>
        </p:spPr>
        <p:txBody>
          <a:bodyPr vert="horz" lIns="0" tIns="45720" rIns="0" bIns="45720" rtlCol="0">
            <a:normAutofit/>
          </a:bodyPr>
          <a:lstStyle/>
          <a:p>
            <a:r>
              <a:rPr lang="en-US" sz="1600" b="1" dirty="0"/>
              <a:t>Wallet (20.31%)</a:t>
            </a:r>
            <a:r>
              <a:rPr lang="en-US" sz="1600" dirty="0"/>
              <a:t> generates the highest revenue, making it the </a:t>
            </a:r>
            <a:r>
              <a:rPr lang="en-US" sz="1600" b="1" dirty="0"/>
              <a:t>most preferred payment method</a:t>
            </a:r>
            <a:r>
              <a:rPr lang="en-US" sz="1600" dirty="0"/>
              <a:t> among customers.</a:t>
            </a:r>
            <a:br>
              <a:rPr lang="en-US" sz="1600" dirty="0"/>
            </a:br>
            <a:r>
              <a:rPr lang="en-US" sz="1600" dirty="0"/>
              <a:t>This indicates a growing trend toward digital wallet usage.</a:t>
            </a:r>
          </a:p>
          <a:p>
            <a:r>
              <a:rPr lang="en-US" sz="1600" b="1" dirty="0"/>
              <a:t>UPI (20.03%)</a:t>
            </a:r>
            <a:r>
              <a:rPr lang="en-US" sz="1600" dirty="0"/>
              <a:t> and </a:t>
            </a:r>
            <a:r>
              <a:rPr lang="en-US" sz="1600" b="1" dirty="0"/>
              <a:t>Cash on Delivery (19.91%)</a:t>
            </a:r>
            <a:r>
              <a:rPr lang="en-US" sz="1600" dirty="0"/>
              <a:t> show </a:t>
            </a:r>
            <a:r>
              <a:rPr lang="en-US" sz="1600" b="1" dirty="0"/>
              <a:t>strong and consistent performance</a:t>
            </a:r>
            <a:r>
              <a:rPr lang="en-US" sz="1600" dirty="0"/>
              <a:t>.</a:t>
            </a:r>
            <a:br>
              <a:rPr lang="en-US" sz="1600" dirty="0"/>
            </a:br>
            <a:r>
              <a:rPr lang="en-US" sz="1600" dirty="0"/>
              <a:t>These methods remain popular due to convenience and trust among customers.</a:t>
            </a:r>
          </a:p>
          <a:p>
            <a:r>
              <a:rPr lang="en-US" sz="1600" b="1" dirty="0"/>
              <a:t>Credit Card (19.91%)</a:t>
            </a:r>
            <a:r>
              <a:rPr lang="en-US" sz="1600" dirty="0"/>
              <a:t> and </a:t>
            </a:r>
            <a:r>
              <a:rPr lang="en-US" sz="1600" b="1" dirty="0"/>
              <a:t>Debit Card (19.84%)</a:t>
            </a:r>
            <a:r>
              <a:rPr lang="en-US" sz="1600" dirty="0"/>
              <a:t> also contribute significantly, with </a:t>
            </a:r>
            <a:r>
              <a:rPr lang="en-US" sz="1600" b="1" dirty="0"/>
              <a:t>very similar revenue distribution</a:t>
            </a:r>
            <a:r>
              <a:rPr lang="en-US" sz="1600" dirty="0"/>
              <a:t>.</a:t>
            </a:r>
          </a:p>
        </p:txBody>
      </p:sp>
      <p:sp>
        <p:nvSpPr>
          <p:cNvPr id="21" name="Rectangle 20">
            <a:extLst>
              <a:ext uri="{FF2B5EF4-FFF2-40B4-BE49-F238E27FC236}">
                <a16:creationId xmlns:a16="http://schemas.microsoft.com/office/drawing/2014/main" id="{1E299956-A9E7-4FC1-A0B1-D590CA9730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23" name="Rectangle 22">
            <a:extLst>
              <a:ext uri="{FF2B5EF4-FFF2-40B4-BE49-F238E27FC236}">
                <a16:creationId xmlns:a16="http://schemas.microsoft.com/office/drawing/2014/main" id="{17FC539C-B783-4B03-9F9E-D13430F3F6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7" name="Content Placeholder 6"/>
          <p:cNvSpPr>
            <a:spLocks noGrp="1"/>
          </p:cNvSpPr>
          <p:nvPr>
            <p:ph sz="half" idx="1"/>
          </p:nvPr>
        </p:nvSpPr>
        <p:spPr/>
        <p:txBody>
          <a:bodyPr>
            <a:normAutofit/>
          </a:bodyPr>
          <a:lstStyle/>
          <a:p>
            <a:endParaRPr lang="en-US" dirty="0"/>
          </a:p>
        </p:txBody>
      </p:sp>
      <p:pic>
        <p:nvPicPr>
          <p:cNvPr id="9" name="Picture 8"/>
          <p:cNvPicPr>
            <a:picLocks noChangeAspect="1"/>
          </p:cNvPicPr>
          <p:nvPr/>
        </p:nvPicPr>
        <p:blipFill>
          <a:blip r:embed="rId2"/>
          <a:stretch>
            <a:fillRect/>
          </a:stretch>
        </p:blipFill>
        <p:spPr>
          <a:xfrm>
            <a:off x="1004300" y="774441"/>
            <a:ext cx="6465935" cy="5197151"/>
          </a:xfrm>
          <a:prstGeom prst="rect">
            <a:avLst/>
          </a:prstGeom>
        </p:spPr>
      </p:pic>
    </p:spTree>
    <p:extLst>
      <p:ext uri="{BB962C8B-B14F-4D97-AF65-F5344CB8AC3E}">
        <p14:creationId xmlns:p14="http://schemas.microsoft.com/office/powerpoint/2010/main" val="433293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29E39-76F9-9CE7-02C2-233C239ECD16}"/>
              </a:ext>
            </a:extLst>
          </p:cNvPr>
          <p:cNvSpPr>
            <a:spLocks noGrp="1"/>
          </p:cNvSpPr>
          <p:nvPr>
            <p:ph type="title"/>
          </p:nvPr>
        </p:nvSpPr>
        <p:spPr>
          <a:xfrm>
            <a:off x="4974771" y="634946"/>
            <a:ext cx="6574972" cy="1063225"/>
          </a:xfrm>
        </p:spPr>
        <p:txBody>
          <a:bodyPr vert="horz" lIns="91440" tIns="45720" rIns="91440" bIns="45720" rtlCol="0" anchor="b">
            <a:normAutofit fontScale="90000"/>
          </a:bodyPr>
          <a:lstStyle/>
          <a:p>
            <a:r>
              <a:rPr lang="en-US" b="1" u="sng" dirty="0"/>
              <a:t>Product Quantity </a:t>
            </a:r>
            <a:r>
              <a:rPr lang="en-US" b="1" u="sng" dirty="0" smtClean="0"/>
              <a:t>Sold </a:t>
            </a:r>
            <a:r>
              <a:rPr lang="en-US" b="1" u="sng" dirty="0"/>
              <a:t>By Product Category</a:t>
            </a:r>
          </a:p>
        </p:txBody>
      </p:sp>
      <p:sp>
        <p:nvSpPr>
          <p:cNvPr id="6" name="Content Placeholder 5">
            <a:extLst>
              <a:ext uri="{FF2B5EF4-FFF2-40B4-BE49-F238E27FC236}">
                <a16:creationId xmlns:a16="http://schemas.microsoft.com/office/drawing/2014/main" id="{B502599C-55A1-D897-3022-27660752D783}"/>
              </a:ext>
            </a:extLst>
          </p:cNvPr>
          <p:cNvSpPr>
            <a:spLocks noGrp="1"/>
          </p:cNvSpPr>
          <p:nvPr>
            <p:ph sz="half" idx="2"/>
          </p:nvPr>
        </p:nvSpPr>
        <p:spPr>
          <a:xfrm>
            <a:off x="4974771" y="1884784"/>
            <a:ext cx="6574971" cy="3984310"/>
          </a:xfrm>
        </p:spPr>
        <p:txBody>
          <a:bodyPr vert="horz" lIns="0" tIns="45720" rIns="0" bIns="45720" rtlCol="0">
            <a:normAutofit/>
          </a:bodyPr>
          <a:lstStyle/>
          <a:p>
            <a:r>
              <a:rPr lang="en-US" sz="1800" b="1" dirty="0"/>
              <a:t>Beauty (~31.5K units)</a:t>
            </a:r>
            <a:r>
              <a:rPr lang="en-US" sz="1800" dirty="0"/>
              <a:t> has the highest quantity sold, making it the </a:t>
            </a:r>
            <a:r>
              <a:rPr lang="en-US" sz="1800" b="1" dirty="0"/>
              <a:t>most in-demand category</a:t>
            </a:r>
            <a:r>
              <a:rPr lang="en-US" sz="1800" dirty="0" smtClean="0"/>
              <a:t>.</a:t>
            </a:r>
          </a:p>
          <a:p>
            <a:r>
              <a:rPr lang="en-US" sz="1800" dirty="0"/>
              <a:t/>
            </a:r>
            <a:br>
              <a:rPr lang="en-US" sz="1800" dirty="0"/>
            </a:br>
            <a:r>
              <a:rPr lang="en-US" sz="1800" b="1" dirty="0"/>
              <a:t>Books (~23.6K), Fashion (~23.8K), and Home &amp; Kitchen (~23.5K</a:t>
            </a:r>
            <a:r>
              <a:rPr lang="en-US" sz="1800" b="1" dirty="0" smtClean="0"/>
              <a:t>)</a:t>
            </a:r>
            <a:r>
              <a:rPr lang="en-US" sz="1800" dirty="0" smtClean="0"/>
              <a:t>. show </a:t>
            </a:r>
            <a:r>
              <a:rPr lang="en-US" sz="1800" b="1" dirty="0"/>
              <a:t>consistent and moderate </a:t>
            </a:r>
            <a:r>
              <a:rPr lang="en-US" sz="1800" b="1" dirty="0" smtClean="0"/>
              <a:t>demand</a:t>
            </a:r>
            <a:r>
              <a:rPr lang="en-US" sz="1800" dirty="0" smtClean="0"/>
              <a:t>. These </a:t>
            </a:r>
            <a:r>
              <a:rPr lang="en-US" sz="1800" dirty="0"/>
              <a:t>categories contribute steadily to overall sales and can be improved through targeted promotions</a:t>
            </a:r>
            <a:r>
              <a:rPr lang="en-US" sz="1800" dirty="0" smtClean="0"/>
              <a:t>.</a:t>
            </a:r>
            <a:endParaRPr lang="en-US" sz="1800" dirty="0"/>
          </a:p>
          <a:p>
            <a:r>
              <a:rPr lang="en-US" sz="1800" b="1" dirty="0"/>
              <a:t>Electronics (~23.4K) and Sports (~23.4K)</a:t>
            </a:r>
            <a:r>
              <a:rPr lang="en-US" sz="1800" dirty="0"/>
              <a:t> have slightly lower demand compared to other categories.</a:t>
            </a:r>
            <a:br>
              <a:rPr lang="en-US" sz="1800" dirty="0"/>
            </a:br>
            <a:r>
              <a:rPr lang="en-US" sz="1800" dirty="0"/>
              <a:t>This suggests </a:t>
            </a:r>
            <a:r>
              <a:rPr lang="en-US" sz="1800" b="1" dirty="0"/>
              <a:t>opportunities to increase sales</a:t>
            </a:r>
            <a:r>
              <a:rPr lang="en-US" sz="1800" dirty="0"/>
              <a:t> through discounts, better pricing, and marketing strategies.</a:t>
            </a:r>
          </a:p>
        </p:txBody>
      </p:sp>
      <p:pic>
        <p:nvPicPr>
          <p:cNvPr id="8" name="Content Placeholder 7"/>
          <p:cNvPicPr>
            <a:picLocks noGrp="1" noChangeAspect="1"/>
          </p:cNvPicPr>
          <p:nvPr>
            <p:ph sz="half" idx="1"/>
          </p:nvPr>
        </p:nvPicPr>
        <p:blipFill>
          <a:blip r:embed="rId2"/>
          <a:stretch>
            <a:fillRect/>
          </a:stretch>
        </p:blipFill>
        <p:spPr>
          <a:xfrm>
            <a:off x="783771" y="559837"/>
            <a:ext cx="3984172" cy="5309257"/>
          </a:xfrm>
          <a:prstGeom prst="rect">
            <a:avLst/>
          </a:prstGeom>
        </p:spPr>
      </p:pic>
    </p:spTree>
    <p:extLst>
      <p:ext uri="{BB962C8B-B14F-4D97-AF65-F5344CB8AC3E}">
        <p14:creationId xmlns:p14="http://schemas.microsoft.com/office/powerpoint/2010/main" val="2302469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D379150-F6B4-45C8-BE10-6B278AD400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13" name="Rectangle 12">
            <a:extLst>
              <a:ext uri="{FF2B5EF4-FFF2-40B4-BE49-F238E27FC236}">
                <a16:creationId xmlns:a16="http://schemas.microsoft.com/office/drawing/2014/main" id="{5FFCF544-A370-4A5D-A95F-CA6E0E7191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cxnSp>
        <p:nvCxnSpPr>
          <p:cNvPr id="15" name="Straight Connector 14">
            <a:extLst>
              <a:ext uri="{FF2B5EF4-FFF2-40B4-BE49-F238E27FC236}">
                <a16:creationId xmlns:a16="http://schemas.microsoft.com/office/drawing/2014/main" id="{6EEB3B97-A638-498B-8083-54191CE71E0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284B70D5-875B-433D-BDBD-1522A85D6C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344CBC-4B21-9645-4CD7-9A7F2D84E795}"/>
              </a:ext>
            </a:extLst>
          </p:cNvPr>
          <p:cNvSpPr>
            <a:spLocks noGrp="1"/>
          </p:cNvSpPr>
          <p:nvPr>
            <p:ph type="title"/>
          </p:nvPr>
        </p:nvSpPr>
        <p:spPr>
          <a:xfrm>
            <a:off x="7212564" y="587830"/>
            <a:ext cx="4337179" cy="1259631"/>
          </a:xfrm>
        </p:spPr>
        <p:txBody>
          <a:bodyPr vert="horz" lIns="91440" tIns="45720" rIns="91440" bIns="45720" rtlCol="0" anchor="b">
            <a:normAutofit/>
          </a:bodyPr>
          <a:lstStyle/>
          <a:p>
            <a:r>
              <a:rPr lang="en-US" sz="4000" b="1" u="sng" dirty="0" smtClean="0"/>
              <a:t>Quantity Sold By Customer Region</a:t>
            </a:r>
            <a:endParaRPr lang="en-US" sz="4000" b="1" u="sng" dirty="0"/>
          </a:p>
        </p:txBody>
      </p:sp>
      <p:cxnSp>
        <p:nvCxnSpPr>
          <p:cNvPr id="19" name="Straight Connector 18">
            <a:extLst>
              <a:ext uri="{FF2B5EF4-FFF2-40B4-BE49-F238E27FC236}">
                <a16:creationId xmlns:a16="http://schemas.microsoft.com/office/drawing/2014/main" id="{C947DF4A-614C-4B4C-8B80-E5B9D8E8CFE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E3DE719-A36B-58DB-8B86-49E92631D77B}"/>
              </a:ext>
            </a:extLst>
          </p:cNvPr>
          <p:cNvSpPr>
            <a:spLocks noGrp="1"/>
          </p:cNvSpPr>
          <p:nvPr>
            <p:ph sz="half" idx="2"/>
          </p:nvPr>
        </p:nvSpPr>
        <p:spPr>
          <a:xfrm>
            <a:off x="7212564" y="1922107"/>
            <a:ext cx="4337180" cy="3955010"/>
          </a:xfrm>
        </p:spPr>
        <p:txBody>
          <a:bodyPr vert="horz" lIns="0" tIns="45720" rIns="0" bIns="45720" rtlCol="0">
            <a:normAutofit fontScale="92500" lnSpcReduction="10000"/>
          </a:bodyPr>
          <a:lstStyle/>
          <a:p>
            <a:r>
              <a:rPr lang="en-US" sz="1600" b="1" dirty="0" smtClean="0"/>
              <a:t>Regional </a:t>
            </a:r>
            <a:r>
              <a:rPr lang="en-US" sz="1600" b="1" dirty="0"/>
              <a:t>Performance </a:t>
            </a:r>
            <a:r>
              <a:rPr lang="en-US" sz="1600" b="1" dirty="0" smtClean="0"/>
              <a:t>Overview:- </a:t>
            </a:r>
          </a:p>
          <a:p>
            <a:r>
              <a:rPr lang="en-US" sz="1600" dirty="0" smtClean="0"/>
              <a:t>The </a:t>
            </a:r>
            <a:r>
              <a:rPr lang="en-US" sz="1600" dirty="0"/>
              <a:t>analysis shows that </a:t>
            </a:r>
            <a:r>
              <a:rPr lang="en-US" sz="1600" b="1" dirty="0"/>
              <a:t>sales are almost equally distributed across all customer regions</a:t>
            </a:r>
            <a:r>
              <a:rPr lang="en-US" sz="1600" dirty="0"/>
              <a:t>, indicating a well-balanced and diversified market presence.</a:t>
            </a:r>
            <a:br>
              <a:rPr lang="en-US" sz="1600" dirty="0"/>
            </a:br>
            <a:r>
              <a:rPr lang="en-US" sz="1600" dirty="0"/>
              <a:t>Each region contributes approximately </a:t>
            </a:r>
            <a:r>
              <a:rPr lang="en-US" sz="1600" b="1" dirty="0"/>
              <a:t>25% of total quantity sold</a:t>
            </a:r>
            <a:r>
              <a:rPr lang="en-US" sz="1600" dirty="0"/>
              <a:t>, demonstrating consistent demand globally.</a:t>
            </a:r>
          </a:p>
          <a:p>
            <a:pPr>
              <a:buFont typeface="Arial" panose="020B0604020202020204" pitchFamily="34" charset="0"/>
              <a:buChar char="•"/>
            </a:pPr>
            <a:r>
              <a:rPr lang="en-US" sz="1600" dirty="0" smtClean="0"/>
              <a:t>Middle </a:t>
            </a:r>
            <a:r>
              <a:rPr lang="en-US" sz="1600" dirty="0" err="1" smtClean="0"/>
              <a:t>Eastx</a:t>
            </a:r>
            <a:r>
              <a:rPr lang="en-US" sz="1600" b="1" dirty="0" smtClean="0"/>
              <a:t>(~</a:t>
            </a:r>
            <a:r>
              <a:rPr lang="en-US" sz="1600" b="1" dirty="0"/>
              <a:t>25.12%)</a:t>
            </a:r>
            <a:r>
              <a:rPr lang="en-US" sz="1600" dirty="0"/>
              <a:t> leads slightly, making it the </a:t>
            </a:r>
            <a:r>
              <a:rPr lang="en-US" sz="1600" b="1" dirty="0"/>
              <a:t>top-performing </a:t>
            </a:r>
            <a:r>
              <a:rPr lang="en-US" sz="1600" b="1" dirty="0" smtClean="0"/>
              <a:t>region.</a:t>
            </a:r>
          </a:p>
          <a:p>
            <a:pPr>
              <a:buFont typeface="Arial" panose="020B0604020202020204" pitchFamily="34" charset="0"/>
              <a:buChar char="•"/>
            </a:pPr>
            <a:r>
              <a:rPr lang="en-US" sz="1600" b="1" dirty="0" smtClean="0"/>
              <a:t>North </a:t>
            </a:r>
            <a:r>
              <a:rPr lang="en-US" sz="1600" b="1" dirty="0"/>
              <a:t>America (~25.04%)</a:t>
            </a:r>
            <a:r>
              <a:rPr lang="en-US" sz="1600" dirty="0"/>
              <a:t> closely follows, showing </a:t>
            </a:r>
            <a:r>
              <a:rPr lang="en-US" sz="1600" b="1" dirty="0"/>
              <a:t>strong and stable </a:t>
            </a:r>
            <a:r>
              <a:rPr lang="en-US" sz="1600" b="1" dirty="0" smtClean="0"/>
              <a:t>demand.</a:t>
            </a:r>
          </a:p>
          <a:p>
            <a:pPr>
              <a:buFont typeface="Arial" panose="020B0604020202020204" pitchFamily="34" charset="0"/>
              <a:buChar char="•"/>
            </a:pPr>
            <a:r>
              <a:rPr lang="en-US" sz="1600" b="1" dirty="0" smtClean="0"/>
              <a:t>Asia </a:t>
            </a:r>
            <a:r>
              <a:rPr lang="en-US" sz="1600" b="1" dirty="0"/>
              <a:t>(~24.98%)</a:t>
            </a:r>
            <a:r>
              <a:rPr lang="en-US" sz="1600" dirty="0"/>
              <a:t> contributes nearly the same, indicating </a:t>
            </a:r>
            <a:r>
              <a:rPr lang="en-US" sz="1600" b="1" dirty="0"/>
              <a:t>growing market </a:t>
            </a:r>
            <a:r>
              <a:rPr lang="en-US" sz="1600" b="1" dirty="0" smtClean="0"/>
              <a:t>potential </a:t>
            </a:r>
            <a:endParaRPr lang="en-US" sz="1600" b="1" dirty="0"/>
          </a:p>
          <a:p>
            <a:pPr>
              <a:buFont typeface="Arial" panose="020B0604020202020204" pitchFamily="34" charset="0"/>
              <a:buChar char="•"/>
            </a:pPr>
            <a:r>
              <a:rPr lang="en-US" sz="1600" b="1" dirty="0" smtClean="0"/>
              <a:t>Europe </a:t>
            </a:r>
            <a:r>
              <a:rPr lang="en-US" sz="1600" b="1" dirty="0"/>
              <a:t>(~24.86%)</a:t>
            </a:r>
            <a:r>
              <a:rPr lang="en-US" sz="1600" dirty="0"/>
              <a:t> has the lowest share, but the difference is </a:t>
            </a:r>
            <a:r>
              <a:rPr lang="en-US" sz="1600" b="1" dirty="0"/>
              <a:t>very minimal</a:t>
            </a:r>
          </a:p>
        </p:txBody>
      </p:sp>
      <p:sp>
        <p:nvSpPr>
          <p:cNvPr id="21" name="Rectangle 20">
            <a:extLst>
              <a:ext uri="{FF2B5EF4-FFF2-40B4-BE49-F238E27FC236}">
                <a16:creationId xmlns:a16="http://schemas.microsoft.com/office/drawing/2014/main" id="{1E299956-A9E7-4FC1-A0B1-D590CA9730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23" name="Rectangle 22">
            <a:extLst>
              <a:ext uri="{FF2B5EF4-FFF2-40B4-BE49-F238E27FC236}">
                <a16:creationId xmlns:a16="http://schemas.microsoft.com/office/drawing/2014/main" id="{17FC539C-B783-4B03-9F9E-D13430F3F6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pic>
        <p:nvPicPr>
          <p:cNvPr id="3" name="Content Placeholder 2"/>
          <p:cNvPicPr>
            <a:picLocks noGrp="1" noChangeAspect="1"/>
          </p:cNvPicPr>
          <p:nvPr>
            <p:ph sz="half" idx="1"/>
          </p:nvPr>
        </p:nvPicPr>
        <p:blipFill>
          <a:blip r:embed="rId2"/>
          <a:stretch>
            <a:fillRect/>
          </a:stretch>
        </p:blipFill>
        <p:spPr>
          <a:xfrm>
            <a:off x="1096963" y="1082351"/>
            <a:ext cx="5783120" cy="4639526"/>
          </a:xfrm>
          <a:prstGeom prst="rect">
            <a:avLst/>
          </a:prstGeom>
        </p:spPr>
      </p:pic>
    </p:spTree>
    <p:extLst>
      <p:ext uri="{BB962C8B-B14F-4D97-AF65-F5344CB8AC3E}">
        <p14:creationId xmlns:p14="http://schemas.microsoft.com/office/powerpoint/2010/main" val="2840524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29E39-76F9-9CE7-02C2-233C239ECD16}"/>
              </a:ext>
            </a:extLst>
          </p:cNvPr>
          <p:cNvSpPr>
            <a:spLocks noGrp="1"/>
          </p:cNvSpPr>
          <p:nvPr>
            <p:ph type="title"/>
          </p:nvPr>
        </p:nvSpPr>
        <p:spPr>
          <a:xfrm>
            <a:off x="5402424" y="634946"/>
            <a:ext cx="6147318" cy="1063225"/>
          </a:xfrm>
        </p:spPr>
        <p:txBody>
          <a:bodyPr vert="horz" lIns="91440" tIns="45720" rIns="91440" bIns="45720" rtlCol="0" anchor="b">
            <a:normAutofit fontScale="90000"/>
          </a:bodyPr>
          <a:lstStyle/>
          <a:p>
            <a:r>
              <a:rPr lang="en-US" b="1" u="sng" dirty="0" smtClean="0"/>
              <a:t>Total Revenue by </a:t>
            </a:r>
            <a:r>
              <a:rPr lang="en-US" b="1" u="sng" dirty="0" err="1" smtClean="0"/>
              <a:t>Customer_region</a:t>
            </a:r>
            <a:endParaRPr lang="en-US" b="1" u="sng" dirty="0"/>
          </a:p>
        </p:txBody>
      </p:sp>
      <p:sp>
        <p:nvSpPr>
          <p:cNvPr id="6" name="Content Placeholder 5">
            <a:extLst>
              <a:ext uri="{FF2B5EF4-FFF2-40B4-BE49-F238E27FC236}">
                <a16:creationId xmlns:a16="http://schemas.microsoft.com/office/drawing/2014/main" id="{B502599C-55A1-D897-3022-27660752D783}"/>
              </a:ext>
            </a:extLst>
          </p:cNvPr>
          <p:cNvSpPr>
            <a:spLocks noGrp="1"/>
          </p:cNvSpPr>
          <p:nvPr>
            <p:ph sz="half" idx="2"/>
          </p:nvPr>
        </p:nvSpPr>
        <p:spPr>
          <a:xfrm>
            <a:off x="5318449" y="1800808"/>
            <a:ext cx="6231293" cy="3480319"/>
          </a:xfrm>
        </p:spPr>
        <p:txBody>
          <a:bodyPr vert="horz" lIns="0" tIns="45720" rIns="0" bIns="45720" rtlCol="0">
            <a:normAutofit/>
          </a:bodyPr>
          <a:lstStyle/>
          <a:p>
            <a:r>
              <a:rPr lang="en-US" sz="1800" b="1" dirty="0"/>
              <a:t>Middle East (~8.27M)</a:t>
            </a:r>
            <a:r>
              <a:rPr lang="en-US" sz="1800" dirty="0"/>
              <a:t> generates the highest revenue, making it the top-performing region.</a:t>
            </a:r>
            <a:br>
              <a:rPr lang="en-US" sz="1800" dirty="0"/>
            </a:br>
            <a:r>
              <a:rPr lang="en-US" sz="1800" dirty="0"/>
              <a:t>This indicates strong customer demand and effective market presence in this region.</a:t>
            </a:r>
          </a:p>
          <a:p>
            <a:r>
              <a:rPr lang="en-US" sz="1800" b="1" dirty="0"/>
              <a:t>North America (~8.24M), Asia (~8.16M), and Europe (~8.07M)</a:t>
            </a:r>
            <a:r>
              <a:rPr lang="en-US" sz="1800" dirty="0"/>
              <a:t> show very similar revenue distribution.</a:t>
            </a:r>
            <a:br>
              <a:rPr lang="en-US" sz="1800" dirty="0"/>
            </a:br>
            <a:r>
              <a:rPr lang="en-US" sz="1800" dirty="0"/>
              <a:t>This reflects a balanced global sales performance across regions.</a:t>
            </a:r>
          </a:p>
          <a:p>
            <a:endParaRPr lang="en-US" sz="1800" dirty="0"/>
          </a:p>
        </p:txBody>
      </p:sp>
      <p:pic>
        <p:nvPicPr>
          <p:cNvPr id="5" name="Content Placeholder 4"/>
          <p:cNvPicPr>
            <a:picLocks noGrp="1" noChangeAspect="1"/>
          </p:cNvPicPr>
          <p:nvPr>
            <p:ph sz="half" idx="1"/>
          </p:nvPr>
        </p:nvPicPr>
        <p:blipFill>
          <a:blip r:embed="rId2"/>
          <a:stretch>
            <a:fillRect/>
          </a:stretch>
        </p:blipFill>
        <p:spPr>
          <a:xfrm>
            <a:off x="577850" y="1418253"/>
            <a:ext cx="4516663" cy="4068147"/>
          </a:xfrm>
          <a:prstGeom prst="rect">
            <a:avLst/>
          </a:prstGeom>
        </p:spPr>
      </p:pic>
    </p:spTree>
    <p:extLst>
      <p:ext uri="{BB962C8B-B14F-4D97-AF65-F5344CB8AC3E}">
        <p14:creationId xmlns:p14="http://schemas.microsoft.com/office/powerpoint/2010/main" val="1529795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D379150-F6B4-45C8-BE10-6B278AD400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13" name="Rectangle 12">
            <a:extLst>
              <a:ext uri="{FF2B5EF4-FFF2-40B4-BE49-F238E27FC236}">
                <a16:creationId xmlns:a16="http://schemas.microsoft.com/office/drawing/2014/main" id="{5FFCF544-A370-4A5D-A95F-CA6E0E7191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cxnSp>
        <p:nvCxnSpPr>
          <p:cNvPr id="15" name="Straight Connector 14">
            <a:extLst>
              <a:ext uri="{FF2B5EF4-FFF2-40B4-BE49-F238E27FC236}">
                <a16:creationId xmlns:a16="http://schemas.microsoft.com/office/drawing/2014/main" id="{6EEB3B97-A638-498B-8083-54191CE71E0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52ABB703-2B0E-4C3B-B4A2-F3973548E5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50762E-2ADD-FDA5-40CC-83657F76961F}"/>
              </a:ext>
            </a:extLst>
          </p:cNvPr>
          <p:cNvSpPr>
            <a:spLocks noGrp="1"/>
          </p:cNvSpPr>
          <p:nvPr>
            <p:ph type="title"/>
          </p:nvPr>
        </p:nvSpPr>
        <p:spPr>
          <a:xfrm>
            <a:off x="6411685" y="634946"/>
            <a:ext cx="5127171" cy="1450757"/>
          </a:xfrm>
        </p:spPr>
        <p:txBody>
          <a:bodyPr vert="horz" lIns="91440" tIns="45720" rIns="91440" bIns="45720" rtlCol="0" anchor="b">
            <a:normAutofit/>
          </a:bodyPr>
          <a:lstStyle/>
          <a:p>
            <a:r>
              <a:rPr lang="en-US" b="1" u="sng"/>
              <a:t>Total Revenue By  Year</a:t>
            </a:r>
          </a:p>
        </p:txBody>
      </p:sp>
      <p:cxnSp>
        <p:nvCxnSpPr>
          <p:cNvPr id="19" name="Straight Connector 18">
            <a:extLst>
              <a:ext uri="{FF2B5EF4-FFF2-40B4-BE49-F238E27FC236}">
                <a16:creationId xmlns:a16="http://schemas.microsoft.com/office/drawing/2014/main" id="{9C21570E-E159-49A6-9891-FA397B7A92D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3CF24AD-2AE6-650A-E69C-F25712569CBD}"/>
              </a:ext>
            </a:extLst>
          </p:cNvPr>
          <p:cNvSpPr>
            <a:spLocks noGrp="1"/>
          </p:cNvSpPr>
          <p:nvPr>
            <p:ph sz="half" idx="2"/>
          </p:nvPr>
        </p:nvSpPr>
        <p:spPr>
          <a:xfrm>
            <a:off x="6411684" y="2198914"/>
            <a:ext cx="5127172" cy="3670180"/>
          </a:xfrm>
        </p:spPr>
        <p:txBody>
          <a:bodyPr vert="horz" lIns="0" tIns="45720" rIns="0" bIns="45720" rtlCol="0">
            <a:normAutofit fontScale="92500" lnSpcReduction="20000"/>
          </a:bodyPr>
          <a:lstStyle/>
          <a:p>
            <a:pPr>
              <a:buFont typeface="Calibri" panose="020F0502020204030204" pitchFamily="34" charset="0"/>
              <a:buNone/>
            </a:pPr>
            <a:r>
              <a:rPr lang="en-US" sz="1600" b="1" u="sng" dirty="0" smtClean="0"/>
              <a:t>Revenue Fluctuations (2022-2023):</a:t>
            </a:r>
          </a:p>
          <a:p>
            <a:r>
              <a:rPr lang="en-US" sz="1600" dirty="0" smtClean="0"/>
              <a:t>Total </a:t>
            </a:r>
            <a:r>
              <a:rPr lang="en-US" sz="1600" dirty="0"/>
              <a:t>revenue remained </a:t>
            </a:r>
            <a:r>
              <a:rPr lang="en-US" sz="1600" b="1" dirty="0"/>
              <a:t>relatively stable across months</a:t>
            </a:r>
            <a:r>
              <a:rPr lang="en-US" sz="1600" dirty="0"/>
              <a:t>, ranging between </a:t>
            </a:r>
            <a:r>
              <a:rPr lang="en-US" sz="1600" b="1" dirty="0"/>
              <a:t>1.23M and 1.46M</a:t>
            </a:r>
            <a:r>
              <a:rPr lang="en-US" sz="1600" dirty="0" smtClean="0"/>
              <a:t>.</a:t>
            </a:r>
          </a:p>
          <a:p>
            <a:r>
              <a:rPr lang="en-US" sz="1600" dirty="0" smtClean="0"/>
              <a:t>The </a:t>
            </a:r>
            <a:r>
              <a:rPr lang="en-US" sz="1600" dirty="0"/>
              <a:t>trend shows </a:t>
            </a:r>
            <a:r>
              <a:rPr lang="en-US" sz="1600" b="1" dirty="0"/>
              <a:t>regular fluctuations without any long-term decline</a:t>
            </a:r>
            <a:r>
              <a:rPr lang="en-US" sz="1600" dirty="0"/>
              <a:t>, indicating consistent business performance</a:t>
            </a:r>
            <a:r>
              <a:rPr lang="en-US" sz="1600" dirty="0" smtClean="0"/>
              <a:t>.</a:t>
            </a:r>
            <a:endParaRPr lang="en-US" sz="1600" dirty="0"/>
          </a:p>
          <a:p>
            <a:r>
              <a:rPr lang="en-US" sz="1600" dirty="0" smtClean="0"/>
              <a:t> Minor </a:t>
            </a:r>
            <a:r>
              <a:rPr lang="en-US" sz="1600" dirty="0"/>
              <a:t>ups and downs are observed, with </a:t>
            </a:r>
            <a:r>
              <a:rPr lang="en-US" sz="1600" b="1" dirty="0"/>
              <a:t>early 2023 showing </a:t>
            </a:r>
            <a:r>
              <a:rPr lang="en-US" sz="1600" b="1" dirty="0" smtClean="0"/>
              <a:t>    both </a:t>
            </a:r>
            <a:r>
              <a:rPr lang="en-US" sz="1600" b="1" dirty="0"/>
              <a:t>the highest peak and lowest dip</a:t>
            </a:r>
            <a:r>
              <a:rPr lang="en-US" sz="1600" dirty="0"/>
              <a:t>, reflecting short-term volatility</a:t>
            </a:r>
            <a:r>
              <a:rPr lang="en-US" sz="1600" dirty="0" smtClean="0"/>
              <a:t>.</a:t>
            </a:r>
          </a:p>
          <a:p>
            <a:r>
              <a:rPr lang="en-US" sz="1600" b="1" dirty="0"/>
              <a:t>Highest revenue peak</a:t>
            </a:r>
            <a:r>
              <a:rPr lang="en-US" sz="1600" dirty="0"/>
              <a:t> observed in early 2023 (~1.46M) </a:t>
            </a:r>
          </a:p>
          <a:p>
            <a:r>
              <a:rPr lang="en-US" sz="1600" b="1" dirty="0"/>
              <a:t>Lowest revenue dip</a:t>
            </a:r>
            <a:r>
              <a:rPr lang="en-US" sz="1600" dirty="0"/>
              <a:t> also in early 2023 (~1.23M) </a:t>
            </a:r>
          </a:p>
          <a:p>
            <a:r>
              <a:rPr lang="en-US" sz="1600" dirty="0"/>
              <a:t>Mid-2023 shows </a:t>
            </a:r>
            <a:r>
              <a:rPr lang="en-US" sz="1600" b="1" dirty="0"/>
              <a:t>strong recovery and stable growth pattern</a:t>
            </a:r>
            <a:r>
              <a:rPr lang="en-US" sz="1600" dirty="0"/>
              <a:t> </a:t>
            </a:r>
          </a:p>
          <a:p>
            <a:r>
              <a:rPr lang="en-US" sz="1600" dirty="0"/>
              <a:t>Overall trend indicates </a:t>
            </a:r>
            <a:r>
              <a:rPr lang="en-US" sz="1600" b="1" dirty="0"/>
              <a:t>seasonal variations rather than instability</a:t>
            </a:r>
            <a:r>
              <a:rPr lang="en-US" sz="1600" dirty="0"/>
              <a:t> </a:t>
            </a:r>
          </a:p>
          <a:p>
            <a:endParaRPr lang="en-US" sz="1600" dirty="0"/>
          </a:p>
        </p:txBody>
      </p:sp>
      <p:sp>
        <p:nvSpPr>
          <p:cNvPr id="21" name="Rectangle 20">
            <a:extLst>
              <a:ext uri="{FF2B5EF4-FFF2-40B4-BE49-F238E27FC236}">
                <a16:creationId xmlns:a16="http://schemas.microsoft.com/office/drawing/2014/main" id="{E95DA498-D9A2-4DA9-B9DA-B3776E08CF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23" name="Rectangle 22">
            <a:extLst>
              <a:ext uri="{FF2B5EF4-FFF2-40B4-BE49-F238E27FC236}">
                <a16:creationId xmlns:a16="http://schemas.microsoft.com/office/drawing/2014/main" id="{82A73093-4B9D-420D-B17E-52293703A1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3" name="Content Placeholder 2"/>
          <p:cNvSpPr>
            <a:spLocks noGrp="1"/>
          </p:cNvSpPr>
          <p:nvPr>
            <p:ph sz="half" idx="1"/>
          </p:nvPr>
        </p:nvSpPr>
        <p:spPr/>
        <p:txBody>
          <a:bodyPr>
            <a:normAutofit fontScale="92500" lnSpcReduction="20000"/>
          </a:bodyPr>
          <a:lstStyle/>
          <a:p>
            <a:endParaRPr lang="en-US"/>
          </a:p>
        </p:txBody>
      </p:sp>
      <p:pic>
        <p:nvPicPr>
          <p:cNvPr id="5" name="Picture 4"/>
          <p:cNvPicPr>
            <a:picLocks noChangeAspect="1"/>
          </p:cNvPicPr>
          <p:nvPr/>
        </p:nvPicPr>
        <p:blipFill>
          <a:blip r:embed="rId2"/>
          <a:stretch>
            <a:fillRect/>
          </a:stretch>
        </p:blipFill>
        <p:spPr>
          <a:xfrm>
            <a:off x="569315" y="933040"/>
            <a:ext cx="5607697" cy="5038552"/>
          </a:xfrm>
          <a:prstGeom prst="rect">
            <a:avLst/>
          </a:prstGeom>
        </p:spPr>
      </p:pic>
    </p:spTree>
    <p:extLst>
      <p:ext uri="{BB962C8B-B14F-4D97-AF65-F5344CB8AC3E}">
        <p14:creationId xmlns:p14="http://schemas.microsoft.com/office/powerpoint/2010/main" val="2425759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379150-F6B4-45C8-BE10-6B278AD400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12" name="Rectangle 11">
            <a:extLst>
              <a:ext uri="{FF2B5EF4-FFF2-40B4-BE49-F238E27FC236}">
                <a16:creationId xmlns:a16="http://schemas.microsoft.com/office/drawing/2014/main" id="{5FFCF544-A370-4A5D-A95F-CA6E0E7191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cxnSp>
        <p:nvCxnSpPr>
          <p:cNvPr id="14" name="Straight Connector 13">
            <a:extLst>
              <a:ext uri="{FF2B5EF4-FFF2-40B4-BE49-F238E27FC236}">
                <a16:creationId xmlns:a16="http://schemas.microsoft.com/office/drawing/2014/main" id="{6EEB3B97-A638-498B-8083-54191CE71E0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284B70D5-875B-433D-BDBD-1522A85D6C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B8C104-CDFD-667D-790A-CE083EBA6E02}"/>
              </a:ext>
            </a:extLst>
          </p:cNvPr>
          <p:cNvSpPr>
            <a:spLocks noGrp="1"/>
          </p:cNvSpPr>
          <p:nvPr>
            <p:ph type="title"/>
          </p:nvPr>
        </p:nvSpPr>
        <p:spPr>
          <a:xfrm>
            <a:off x="7735079" y="634946"/>
            <a:ext cx="3814663" cy="1450757"/>
          </a:xfrm>
        </p:spPr>
        <p:txBody>
          <a:bodyPr vert="horz" lIns="91440" tIns="45720" rIns="91440" bIns="45720" rtlCol="0" anchor="b">
            <a:normAutofit/>
          </a:bodyPr>
          <a:lstStyle/>
          <a:p>
            <a:r>
              <a:rPr lang="en-US" b="1" u="sng" dirty="0"/>
              <a:t>Total Sales By Month</a:t>
            </a:r>
          </a:p>
        </p:txBody>
      </p:sp>
      <p:cxnSp>
        <p:nvCxnSpPr>
          <p:cNvPr id="18" name="Straight Connector 17">
            <a:extLst>
              <a:ext uri="{FF2B5EF4-FFF2-40B4-BE49-F238E27FC236}">
                <a16:creationId xmlns:a16="http://schemas.microsoft.com/office/drawing/2014/main" id="{C947DF4A-614C-4B4C-8B80-E5B9D8E8CFE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F8101D4D-0733-91C4-7A12-1C0134DEE17A}"/>
              </a:ext>
            </a:extLst>
          </p:cNvPr>
          <p:cNvSpPr>
            <a:spLocks noGrp="1"/>
          </p:cNvSpPr>
          <p:nvPr>
            <p:ph sz="half" idx="2"/>
          </p:nvPr>
        </p:nvSpPr>
        <p:spPr>
          <a:xfrm>
            <a:off x="7735079" y="2198914"/>
            <a:ext cx="3814664" cy="3670180"/>
          </a:xfrm>
        </p:spPr>
        <p:txBody>
          <a:bodyPr vert="horz" lIns="0" tIns="45720" rIns="0" bIns="45720" rtlCol="0">
            <a:normAutofit fontScale="85000" lnSpcReduction="20000"/>
          </a:bodyPr>
          <a:lstStyle/>
          <a:p>
            <a:r>
              <a:rPr lang="en-US" sz="1800" b="1" dirty="0"/>
              <a:t>Monthly Revenue Trend Analysis:</a:t>
            </a:r>
          </a:p>
          <a:p>
            <a:r>
              <a:rPr lang="en-US" sz="1800" dirty="0"/>
              <a:t>The chart shows that </a:t>
            </a:r>
            <a:r>
              <a:rPr lang="en-US" sz="1800" b="1" dirty="0"/>
              <a:t>revenue remains relatively stable throughout the year</a:t>
            </a:r>
            <a:r>
              <a:rPr lang="en-US" sz="1800" dirty="0"/>
              <a:t>, with only slight fluctuations across months.</a:t>
            </a:r>
            <a:br>
              <a:rPr lang="en-US" sz="1800" dirty="0"/>
            </a:br>
            <a:r>
              <a:rPr lang="en-US" sz="1800" dirty="0"/>
              <a:t>This indicates a </a:t>
            </a:r>
            <a:r>
              <a:rPr lang="en-US" sz="1800" b="1" dirty="0"/>
              <a:t>consistent sales performance without major seasonal drops</a:t>
            </a:r>
            <a:r>
              <a:rPr lang="en-US" sz="1800" dirty="0"/>
              <a:t>.</a:t>
            </a:r>
          </a:p>
          <a:p>
            <a:r>
              <a:rPr lang="en-US" sz="1800" b="1" dirty="0"/>
              <a:t>January (~2.9M)</a:t>
            </a:r>
            <a:r>
              <a:rPr lang="en-US" sz="1800" dirty="0"/>
              <a:t> records one of the </a:t>
            </a:r>
            <a:r>
              <a:rPr lang="en-US" sz="1800" b="1" dirty="0"/>
              <a:t>highest revenues</a:t>
            </a:r>
            <a:r>
              <a:rPr lang="en-US" sz="1800" dirty="0"/>
              <a:t>, indicating a strong start to the year </a:t>
            </a:r>
          </a:p>
          <a:p>
            <a:r>
              <a:rPr lang="en-US" sz="1800" b="1" dirty="0"/>
              <a:t>February (~2.5M)</a:t>
            </a:r>
            <a:r>
              <a:rPr lang="en-US" sz="1800" dirty="0"/>
              <a:t> shows the </a:t>
            </a:r>
            <a:r>
              <a:rPr lang="en-US" sz="1800" b="1" dirty="0"/>
              <a:t>lowest revenue</a:t>
            </a:r>
            <a:r>
              <a:rPr lang="en-US" sz="1800" dirty="0"/>
              <a:t>, suggesting a short-term dip </a:t>
            </a:r>
          </a:p>
          <a:p>
            <a:r>
              <a:rPr lang="en-US" sz="1800" dirty="0"/>
              <a:t>Revenue steadily recovers from </a:t>
            </a:r>
            <a:r>
              <a:rPr lang="en-US" sz="1800" b="1" dirty="0"/>
              <a:t>March to August</a:t>
            </a:r>
            <a:r>
              <a:rPr lang="en-US" sz="1800" dirty="0"/>
              <a:t>, with </a:t>
            </a:r>
            <a:r>
              <a:rPr lang="en-US" sz="1800" b="1" dirty="0"/>
              <a:t>August (~2.85M)</a:t>
            </a:r>
            <a:r>
              <a:rPr lang="en-US" sz="1800" dirty="0"/>
              <a:t> being another peak </a:t>
            </a:r>
          </a:p>
          <a:p>
            <a:r>
              <a:rPr lang="en-US" sz="1800" dirty="0"/>
              <a:t>The remaining months maintain </a:t>
            </a:r>
            <a:r>
              <a:rPr lang="en-US" sz="1800" b="1" dirty="0"/>
              <a:t>stable performance around 2.6M–2.8M</a:t>
            </a:r>
            <a:r>
              <a:rPr lang="en-US" sz="1800" dirty="0"/>
              <a:t> </a:t>
            </a:r>
          </a:p>
          <a:p>
            <a:pPr marL="0" indent="0">
              <a:buFont typeface="Calibri" panose="020F0502020204030204" pitchFamily="34" charset="0"/>
              <a:buNone/>
            </a:pPr>
            <a:endParaRPr lang="en-US" sz="1700" dirty="0"/>
          </a:p>
        </p:txBody>
      </p:sp>
      <p:sp>
        <p:nvSpPr>
          <p:cNvPr id="20" name="Rectangle 19">
            <a:extLst>
              <a:ext uri="{FF2B5EF4-FFF2-40B4-BE49-F238E27FC236}">
                <a16:creationId xmlns:a16="http://schemas.microsoft.com/office/drawing/2014/main" id="{1E299956-A9E7-4FC1-A0B1-D590CA9730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22" name="Rectangle 21">
            <a:extLst>
              <a:ext uri="{FF2B5EF4-FFF2-40B4-BE49-F238E27FC236}">
                <a16:creationId xmlns:a16="http://schemas.microsoft.com/office/drawing/2014/main" id="{17FC539C-B783-4B03-9F9E-D13430F3F6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3" name="Content Placeholder 2"/>
          <p:cNvSpPr>
            <a:spLocks noGrp="1"/>
          </p:cNvSpPr>
          <p:nvPr>
            <p:ph sz="half" idx="1"/>
          </p:nvPr>
        </p:nvSpPr>
        <p:spPr/>
        <p:txBody>
          <a:bodyPr>
            <a:normAutofit fontScale="85000" lnSpcReduction="20000"/>
          </a:bodyPr>
          <a:lstStyle/>
          <a:p>
            <a:endParaRPr lang="en-US"/>
          </a:p>
        </p:txBody>
      </p:sp>
      <p:pic>
        <p:nvPicPr>
          <p:cNvPr id="6" name="Picture 5"/>
          <p:cNvPicPr>
            <a:picLocks noChangeAspect="1"/>
          </p:cNvPicPr>
          <p:nvPr/>
        </p:nvPicPr>
        <p:blipFill>
          <a:blip r:embed="rId2"/>
          <a:stretch>
            <a:fillRect/>
          </a:stretch>
        </p:blipFill>
        <p:spPr>
          <a:xfrm>
            <a:off x="475861" y="1007706"/>
            <a:ext cx="6994374" cy="4869410"/>
          </a:xfrm>
          <a:prstGeom prst="rect">
            <a:avLst/>
          </a:prstGeom>
        </p:spPr>
      </p:pic>
    </p:spTree>
    <p:extLst>
      <p:ext uri="{BB962C8B-B14F-4D97-AF65-F5344CB8AC3E}">
        <p14:creationId xmlns:p14="http://schemas.microsoft.com/office/powerpoint/2010/main" val="3256588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D379150-F6B4-45C8-BE10-6B278AD400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13" name="Rectangle 12">
            <a:extLst>
              <a:ext uri="{FF2B5EF4-FFF2-40B4-BE49-F238E27FC236}">
                <a16:creationId xmlns:a16="http://schemas.microsoft.com/office/drawing/2014/main" id="{5FFCF544-A370-4A5D-A95F-CA6E0E7191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cxnSp>
        <p:nvCxnSpPr>
          <p:cNvPr id="15" name="Straight Connector 14">
            <a:extLst>
              <a:ext uri="{FF2B5EF4-FFF2-40B4-BE49-F238E27FC236}">
                <a16:creationId xmlns:a16="http://schemas.microsoft.com/office/drawing/2014/main" id="{6EEB3B97-A638-498B-8083-54191CE71E0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C33BF9DD-8A45-4EEE-B231-0A14D322E5F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928F2B-AD85-EA01-9425-2B23AAE7BC33}"/>
              </a:ext>
            </a:extLst>
          </p:cNvPr>
          <p:cNvSpPr>
            <a:spLocks noGrp="1"/>
          </p:cNvSpPr>
          <p:nvPr>
            <p:ph type="title"/>
          </p:nvPr>
        </p:nvSpPr>
        <p:spPr>
          <a:xfrm>
            <a:off x="6307494" y="251927"/>
            <a:ext cx="5243804" cy="1137576"/>
          </a:xfrm>
        </p:spPr>
        <p:txBody>
          <a:bodyPr vert="horz" lIns="91440" tIns="45720" rIns="91440" bIns="45720" rtlCol="0" anchor="b">
            <a:normAutofit/>
          </a:bodyPr>
          <a:lstStyle/>
          <a:p>
            <a:r>
              <a:rPr lang="en-US" sz="4000" b="1" u="sng" dirty="0" smtClean="0"/>
              <a:t>Year wise Monthly Sales</a:t>
            </a:r>
            <a:endParaRPr lang="en-US" sz="4000" u="sng" dirty="0"/>
          </a:p>
        </p:txBody>
      </p:sp>
      <p:cxnSp>
        <p:nvCxnSpPr>
          <p:cNvPr id="19" name="Straight Connector 18">
            <a:extLst>
              <a:ext uri="{FF2B5EF4-FFF2-40B4-BE49-F238E27FC236}">
                <a16:creationId xmlns:a16="http://schemas.microsoft.com/office/drawing/2014/main" id="{9020DCC9-F851-4562-BB20-1AB3C51BFD08}"/>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8FC71BD8-CAA0-A1E6-8DAD-2072844C3F4F}"/>
              </a:ext>
            </a:extLst>
          </p:cNvPr>
          <p:cNvSpPr>
            <a:spLocks noGrp="1"/>
          </p:cNvSpPr>
          <p:nvPr>
            <p:ph sz="half" idx="2"/>
          </p:nvPr>
        </p:nvSpPr>
        <p:spPr>
          <a:xfrm>
            <a:off x="6400241" y="1474237"/>
            <a:ext cx="5547194" cy="4511735"/>
          </a:xfrm>
        </p:spPr>
        <p:txBody>
          <a:bodyPr vert="horz" lIns="0" tIns="45720" rIns="0" bIns="45720" rtlCol="0">
            <a:normAutofit fontScale="77500" lnSpcReduction="20000"/>
          </a:bodyPr>
          <a:lstStyle/>
          <a:p>
            <a:r>
              <a:rPr lang="en-US" sz="2200" dirty="0"/>
              <a:t>Compared monthly revenue for </a:t>
            </a:r>
            <a:r>
              <a:rPr lang="en-US" sz="2200" b="1" dirty="0"/>
              <a:t>2022 and 2023</a:t>
            </a:r>
            <a:r>
              <a:rPr lang="en-US" sz="2200" dirty="0"/>
              <a:t> </a:t>
            </a:r>
          </a:p>
          <a:p>
            <a:r>
              <a:rPr lang="en-US" sz="2200" dirty="0"/>
              <a:t>Total Revenue: </a:t>
            </a:r>
          </a:p>
          <a:p>
            <a:pPr lvl="1"/>
            <a:r>
              <a:rPr lang="en-US" sz="2200" b="1" dirty="0"/>
              <a:t>2022 → 1.63 Cr+</a:t>
            </a:r>
            <a:r>
              <a:rPr lang="en-US" sz="2200" dirty="0"/>
              <a:t> </a:t>
            </a:r>
          </a:p>
          <a:p>
            <a:pPr lvl="1">
              <a:buFont typeface="Arial" panose="020B0604020202020204" pitchFamily="34" charset="0"/>
              <a:buChar char="•"/>
            </a:pPr>
            <a:r>
              <a:rPr lang="en-US" sz="2200" b="1" dirty="0"/>
              <a:t>2023 → 1.64 Cr</a:t>
            </a:r>
            <a:r>
              <a:rPr lang="en-US" sz="2200" b="1" dirty="0" smtClean="0"/>
              <a:t>+</a:t>
            </a:r>
            <a:endParaRPr lang="en-US" sz="2200" dirty="0"/>
          </a:p>
          <a:p>
            <a:r>
              <a:rPr lang="en-US" sz="2200" dirty="0"/>
              <a:t>Sales performance remained </a:t>
            </a:r>
            <a:r>
              <a:rPr lang="en-US" sz="2200" b="1" dirty="0"/>
              <a:t>stable across both years</a:t>
            </a:r>
            <a:r>
              <a:rPr lang="en-US" sz="2200" dirty="0"/>
              <a:t> </a:t>
            </a:r>
          </a:p>
          <a:p>
            <a:r>
              <a:rPr lang="en-US" sz="2200" b="1" dirty="0"/>
              <a:t>January</a:t>
            </a:r>
            <a:r>
              <a:rPr lang="en-US" sz="2200" dirty="0"/>
              <a:t> started strong in both years, showing high initial demand </a:t>
            </a:r>
          </a:p>
          <a:p>
            <a:r>
              <a:rPr lang="en-US" sz="2200" b="1" dirty="0"/>
              <a:t>February</a:t>
            </a:r>
            <a:r>
              <a:rPr lang="en-US" sz="2200" dirty="0"/>
              <a:t> recorded a noticeable dip, indicating lower customer activity </a:t>
            </a:r>
            <a:r>
              <a:rPr lang="en-US" sz="2200" b="1" dirty="0"/>
              <a:t>Monthly Trends</a:t>
            </a:r>
          </a:p>
          <a:p>
            <a:r>
              <a:rPr lang="en-US" sz="2200" b="1" dirty="0"/>
              <a:t>March &amp; July</a:t>
            </a:r>
            <a:r>
              <a:rPr lang="en-US" sz="2200" dirty="0"/>
              <a:t> showed strong growth → possibly due to marketing campaigns or increased demand </a:t>
            </a:r>
          </a:p>
          <a:p>
            <a:r>
              <a:rPr lang="en-US" sz="2200" b="1" dirty="0"/>
              <a:t>May &amp; October</a:t>
            </a:r>
            <a:r>
              <a:rPr lang="en-US" sz="2200" dirty="0"/>
              <a:t> recorded high sales → indicating peak or festive seasons </a:t>
            </a:r>
          </a:p>
          <a:p>
            <a:r>
              <a:rPr lang="en-US" sz="2200" b="1" dirty="0"/>
              <a:t>August 2022</a:t>
            </a:r>
            <a:r>
              <a:rPr lang="en-US" sz="2200" dirty="0"/>
              <a:t> had the highest sales performance </a:t>
            </a:r>
          </a:p>
          <a:p>
            <a:r>
              <a:rPr lang="en-US" sz="2200" b="1" dirty="0"/>
              <a:t>July &amp; October 2023</a:t>
            </a:r>
            <a:r>
              <a:rPr lang="en-US" sz="2200" dirty="0"/>
              <a:t> were peak months for that year </a:t>
            </a:r>
          </a:p>
          <a:p>
            <a:endParaRPr lang="en-US" dirty="0"/>
          </a:p>
        </p:txBody>
      </p:sp>
      <p:sp>
        <p:nvSpPr>
          <p:cNvPr id="21" name="Rectangle 20">
            <a:extLst>
              <a:ext uri="{FF2B5EF4-FFF2-40B4-BE49-F238E27FC236}">
                <a16:creationId xmlns:a16="http://schemas.microsoft.com/office/drawing/2014/main" id="{D5FBCAC9-BD8B-4F3B-AD74-EF37D421134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sp>
        <p:nvSpPr>
          <p:cNvPr id="23" name="Rectangle 22">
            <a:extLst>
              <a:ext uri="{FF2B5EF4-FFF2-40B4-BE49-F238E27FC236}">
                <a16:creationId xmlns:a16="http://schemas.microsoft.com/office/drawing/2014/main" id="{9556C5A8-AD7E-4CE7-87BE-9EA3B5E1786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BB"/>
          </a:p>
        </p:txBody>
      </p:sp>
      <p:pic>
        <p:nvPicPr>
          <p:cNvPr id="5" name="Content Placeholder 4"/>
          <p:cNvPicPr>
            <a:picLocks noGrp="1" noChangeAspect="1"/>
          </p:cNvPicPr>
          <p:nvPr>
            <p:ph sz="half" idx="1"/>
          </p:nvPr>
        </p:nvPicPr>
        <p:blipFill>
          <a:blip r:embed="rId2"/>
          <a:stretch>
            <a:fillRect/>
          </a:stretch>
        </p:blipFill>
        <p:spPr>
          <a:xfrm>
            <a:off x="3277875" y="1294325"/>
            <a:ext cx="3009123" cy="4022725"/>
          </a:xfrm>
          <a:prstGeom prst="rect">
            <a:avLst/>
          </a:prstGeom>
        </p:spPr>
      </p:pic>
      <p:pic>
        <p:nvPicPr>
          <p:cNvPr id="7" name="Picture 6"/>
          <p:cNvPicPr>
            <a:picLocks noChangeAspect="1"/>
          </p:cNvPicPr>
          <p:nvPr/>
        </p:nvPicPr>
        <p:blipFill>
          <a:blip r:embed="rId3"/>
          <a:stretch>
            <a:fillRect/>
          </a:stretch>
        </p:blipFill>
        <p:spPr>
          <a:xfrm>
            <a:off x="173758" y="1294325"/>
            <a:ext cx="3217360" cy="3924848"/>
          </a:xfrm>
          <a:prstGeom prst="rect">
            <a:avLst/>
          </a:prstGeom>
        </p:spPr>
      </p:pic>
    </p:spTree>
    <p:extLst>
      <p:ext uri="{BB962C8B-B14F-4D97-AF65-F5344CB8AC3E}">
        <p14:creationId xmlns:p14="http://schemas.microsoft.com/office/powerpoint/2010/main" val="419640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07902C-BCC3-A347-8CDC-258179ED7168}"/>
              </a:ext>
            </a:extLst>
          </p:cNvPr>
          <p:cNvSpPr>
            <a:spLocks noGrp="1"/>
          </p:cNvSpPr>
          <p:nvPr>
            <p:ph idx="4294967295"/>
          </p:nvPr>
        </p:nvSpPr>
        <p:spPr>
          <a:xfrm>
            <a:off x="1277815" y="2248678"/>
            <a:ext cx="9636369" cy="1979166"/>
          </a:xfrm>
        </p:spPr>
        <p:txBody>
          <a:bodyPr>
            <a:normAutofit/>
          </a:bodyPr>
          <a:lstStyle/>
          <a:p>
            <a:pPr marL="0" indent="0" algn="ctr">
              <a:buNone/>
            </a:pPr>
            <a:r>
              <a:rPr lang="en-IN" sz="4800" b="1" u="sng" dirty="0"/>
              <a:t>REPORTS</a:t>
            </a:r>
          </a:p>
        </p:txBody>
      </p:sp>
    </p:spTree>
    <p:extLst>
      <p:ext uri="{BB962C8B-B14F-4D97-AF65-F5344CB8AC3E}">
        <p14:creationId xmlns:p14="http://schemas.microsoft.com/office/powerpoint/2010/main" val="3388519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3DCE2-C19B-E099-C77B-3ABF0E86FE57}"/>
              </a:ext>
            </a:extLst>
          </p:cNvPr>
          <p:cNvSpPr>
            <a:spLocks noGrp="1"/>
          </p:cNvSpPr>
          <p:nvPr>
            <p:ph type="title"/>
          </p:nvPr>
        </p:nvSpPr>
        <p:spPr>
          <a:xfrm>
            <a:off x="582561" y="0"/>
            <a:ext cx="10515600" cy="315912"/>
          </a:xfrm>
        </p:spPr>
        <p:txBody>
          <a:bodyPr>
            <a:normAutofit fontScale="90000"/>
          </a:bodyPr>
          <a:lstStyle/>
          <a:p>
            <a:pPr algn="ctr"/>
            <a:r>
              <a:rPr lang="en-IN" sz="1800" b="1" u="sng" dirty="0" smtClean="0"/>
              <a:t>E-Commerce </a:t>
            </a:r>
            <a:r>
              <a:rPr lang="en-IN" sz="1800" b="1" u="sng" dirty="0"/>
              <a:t>Sales </a:t>
            </a:r>
            <a:r>
              <a:rPr lang="en-IN" sz="1800" b="1" u="sng" dirty="0" err="1" smtClean="0"/>
              <a:t>AnalysisS</a:t>
            </a:r>
            <a:endParaRPr lang="en-IN" sz="1800" u="sng" dirty="0"/>
          </a:p>
        </p:txBody>
      </p:sp>
      <p:sp>
        <p:nvSpPr>
          <p:cNvPr id="4" name="Content Placeholder 3"/>
          <p:cNvSpPr>
            <a:spLocks noGrp="1"/>
          </p:cNvSpPr>
          <p:nvPr>
            <p:ph idx="1"/>
          </p:nvPr>
        </p:nvSpPr>
        <p:spPr/>
        <p:txBody>
          <a:bodyPr/>
          <a:lstStyle/>
          <a:p>
            <a:endParaRPr lang="en-US"/>
          </a:p>
        </p:txBody>
      </p:sp>
      <p:pic>
        <p:nvPicPr>
          <p:cNvPr id="7" name="Picture 6"/>
          <p:cNvPicPr>
            <a:picLocks noChangeAspect="1"/>
          </p:cNvPicPr>
          <p:nvPr/>
        </p:nvPicPr>
        <p:blipFill>
          <a:blip r:embed="rId3"/>
          <a:stretch>
            <a:fillRect/>
          </a:stretch>
        </p:blipFill>
        <p:spPr>
          <a:xfrm>
            <a:off x="537387" y="285899"/>
            <a:ext cx="11117226" cy="6058918"/>
          </a:xfrm>
          <a:prstGeom prst="rect">
            <a:avLst/>
          </a:prstGeom>
        </p:spPr>
      </p:pic>
    </p:spTree>
    <p:extLst>
      <p:ext uri="{BB962C8B-B14F-4D97-AF65-F5344CB8AC3E}">
        <p14:creationId xmlns:p14="http://schemas.microsoft.com/office/powerpoint/2010/main" val="3925829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62269" y="597159"/>
            <a:ext cx="9806474" cy="5293757"/>
          </a:xfrm>
          <a:prstGeom prst="rect">
            <a:avLst/>
          </a:prstGeom>
        </p:spPr>
        <p:txBody>
          <a:bodyPr wrap="square">
            <a:spAutoFit/>
          </a:bodyPr>
          <a:lstStyle/>
          <a:p>
            <a:r>
              <a:rPr lang="en-US" sz="3200" b="1" dirty="0"/>
              <a:t>Key Insights from Dashboard</a:t>
            </a:r>
          </a:p>
          <a:p>
            <a:r>
              <a:rPr lang="en-US" dirty="0"/>
              <a:t>• </a:t>
            </a:r>
            <a:r>
              <a:rPr lang="en-US" b="1" dirty="0"/>
              <a:t>Beauty category generates the highest revenue (~6.9M) and also has the highest demand</a:t>
            </a:r>
            <a:r>
              <a:rPr lang="en-US" dirty="0"/>
              <a:t>, making it the most profitable segment</a:t>
            </a:r>
            <a:r>
              <a:rPr lang="en-US" dirty="0" smtClean="0"/>
              <a:t>.</a:t>
            </a:r>
          </a:p>
          <a:p>
            <a:endParaRPr lang="en-US" dirty="0"/>
          </a:p>
          <a:p>
            <a:r>
              <a:rPr lang="en-US" dirty="0"/>
              <a:t>• </a:t>
            </a:r>
            <a:r>
              <a:rPr lang="en-US" b="1" dirty="0"/>
              <a:t>Home &amp; Kitchen shows highest average revenue per order (~662)</a:t>
            </a:r>
            <a:r>
              <a:rPr lang="en-US" dirty="0"/>
              <a:t>, indicating higher-value purchases despite moderate demand</a:t>
            </a:r>
            <a:r>
              <a:rPr lang="en-US" dirty="0" smtClean="0"/>
              <a:t>.</a:t>
            </a:r>
          </a:p>
          <a:p>
            <a:endParaRPr lang="en-US" dirty="0"/>
          </a:p>
          <a:p>
            <a:r>
              <a:rPr lang="en-US" dirty="0"/>
              <a:t>• </a:t>
            </a:r>
            <a:r>
              <a:rPr lang="en-US" b="1" dirty="0"/>
              <a:t>Revenue is evenly distributed across regions</a:t>
            </a:r>
            <a:r>
              <a:rPr lang="en-US" dirty="0"/>
              <a:t>, with Middle East slightly leading </a:t>
            </a:r>
            <a:r>
              <a:rPr lang="en-US" b="1" dirty="0"/>
              <a:t>(~8.27M</a:t>
            </a:r>
            <a:r>
              <a:rPr lang="en-US" dirty="0"/>
              <a:t>), showing strong global market presence</a:t>
            </a:r>
            <a:r>
              <a:rPr lang="en-US" dirty="0" smtClean="0"/>
              <a:t>.</a:t>
            </a:r>
          </a:p>
          <a:p>
            <a:endParaRPr lang="en-US" dirty="0"/>
          </a:p>
          <a:p>
            <a:r>
              <a:rPr lang="en-US" dirty="0"/>
              <a:t>• </a:t>
            </a:r>
            <a:r>
              <a:rPr lang="en-US" b="1" dirty="0"/>
              <a:t>Low discount category contributes the highest revenue</a:t>
            </a:r>
            <a:r>
              <a:rPr lang="en-US" dirty="0"/>
              <a:t>, suggesting heavy discounts are not always required to drive sales</a:t>
            </a:r>
            <a:r>
              <a:rPr lang="en-US" dirty="0" smtClean="0"/>
              <a:t>.</a:t>
            </a:r>
          </a:p>
          <a:p>
            <a:endParaRPr lang="en-US" dirty="0"/>
          </a:p>
          <a:p>
            <a:r>
              <a:rPr lang="en-US" dirty="0"/>
              <a:t>• </a:t>
            </a:r>
            <a:r>
              <a:rPr lang="en-US" b="1" dirty="0"/>
              <a:t>January records the highest sales while February shows the lowest</a:t>
            </a:r>
            <a:r>
              <a:rPr lang="en-US" dirty="0"/>
              <a:t>, indicating seasonal fluctuations in customer purchasing behavior</a:t>
            </a:r>
            <a:r>
              <a:rPr lang="en-US" dirty="0" smtClean="0"/>
              <a:t>.</a:t>
            </a:r>
          </a:p>
          <a:p>
            <a:endParaRPr lang="en-US" dirty="0"/>
          </a:p>
          <a:p>
            <a:r>
              <a:rPr lang="en-US" dirty="0"/>
              <a:t>• </a:t>
            </a:r>
            <a:r>
              <a:rPr lang="en-US" b="1" dirty="0"/>
              <a:t>Wallet and UPI are the most preferred payment methods (~20% each)</a:t>
            </a:r>
            <a:r>
              <a:rPr lang="en-US" dirty="0"/>
              <a:t>, highlighting a shift towards digital payment adoption.</a:t>
            </a:r>
          </a:p>
        </p:txBody>
      </p:sp>
    </p:spTree>
    <p:extLst>
      <p:ext uri="{BB962C8B-B14F-4D97-AF65-F5344CB8AC3E}">
        <p14:creationId xmlns:p14="http://schemas.microsoft.com/office/powerpoint/2010/main" val="1769727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6327" y="340311"/>
            <a:ext cx="5831633" cy="877077"/>
          </a:xfrm>
        </p:spPr>
        <p:txBody>
          <a:bodyPr>
            <a:normAutofit fontScale="90000"/>
          </a:bodyPr>
          <a:lstStyle/>
          <a:p>
            <a:r>
              <a:rPr lang="en-US" sz="3200" b="1" dirty="0" smtClean="0"/>
              <a:t>Challenges </a:t>
            </a:r>
            <a:r>
              <a:rPr lang="en-US" sz="3200" b="1" dirty="0"/>
              <a:t>Faced &amp; </a:t>
            </a:r>
            <a:r>
              <a:rPr lang="en-US" sz="3200" b="1" dirty="0" smtClean="0"/>
              <a:t>Solutions</a:t>
            </a:r>
            <a:r>
              <a:rPr lang="en-US" sz="3200" b="1" dirty="0"/>
              <a:t/>
            </a:r>
            <a:br>
              <a:rPr lang="en-US" sz="3200" b="1" dirty="0"/>
            </a:br>
            <a:endParaRPr lang="en-US" sz="3200" b="1" dirty="0"/>
          </a:p>
        </p:txBody>
      </p:sp>
      <p:sp>
        <p:nvSpPr>
          <p:cNvPr id="5" name="Rectangle 3"/>
          <p:cNvSpPr>
            <a:spLocks noChangeArrowheads="1"/>
          </p:cNvSpPr>
          <p:nvPr/>
        </p:nvSpPr>
        <p:spPr bwMode="auto">
          <a:xfrm>
            <a:off x="1240971" y="422083"/>
            <a:ext cx="843487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endParaRPr lang="en-US" sz="1600" b="1" dirty="0" smtClean="0"/>
          </a:p>
          <a:p>
            <a:pPr marL="285750" lvl="0" indent="-285750" defTabSz="914400" eaLnBrk="0" fontAlgn="base" hangingPunct="0">
              <a:spcBef>
                <a:spcPct val="0"/>
              </a:spcBef>
              <a:spcAft>
                <a:spcPct val="0"/>
              </a:spcAft>
              <a:buFont typeface="Wingdings" panose="05000000000000000000" pitchFamily="2" charset="2"/>
              <a:buChar char="Ø"/>
            </a:pPr>
            <a:endParaRPr lang="en-US" sz="1600" b="1" dirty="0"/>
          </a:p>
          <a:p>
            <a:pPr marL="285750" lvl="0" indent="-285750" defTabSz="914400" eaLnBrk="0" fontAlgn="base" hangingPunct="0">
              <a:spcBef>
                <a:spcPct val="0"/>
              </a:spcBef>
              <a:spcAft>
                <a:spcPct val="0"/>
              </a:spcAft>
              <a:buFont typeface="Wingdings" panose="05000000000000000000" pitchFamily="2" charset="2"/>
              <a:buChar char="Ø"/>
            </a:pPr>
            <a:r>
              <a:rPr lang="en-US" sz="1600" b="1" dirty="0" smtClean="0"/>
              <a:t>Connecting </a:t>
            </a:r>
            <a:r>
              <a:rPr lang="en-US" sz="1600" b="1" dirty="0"/>
              <a:t>MySQL Database with </a:t>
            </a:r>
            <a:r>
              <a:rPr lang="en-US" sz="1600" b="1" dirty="0" err="1"/>
              <a:t>Jupyter</a:t>
            </a:r>
            <a:r>
              <a:rPr lang="en-US" sz="1600" b="1" dirty="0"/>
              <a:t> Notebook</a:t>
            </a:r>
            <a:r>
              <a:rPr lang="en-US" sz="1600" dirty="0"/>
              <a:t/>
            </a:r>
            <a:br>
              <a:rPr lang="en-US" sz="1600" dirty="0"/>
            </a:br>
            <a:r>
              <a:rPr lang="en-US" sz="1600" dirty="0"/>
              <a:t>→ Faced issues in establishing connection and importing data</a:t>
            </a:r>
            <a:br>
              <a:rPr lang="en-US" sz="1600" dirty="0"/>
            </a:br>
            <a:r>
              <a:rPr lang="en-US" sz="1600" dirty="0"/>
              <a:t>→ Resolved using </a:t>
            </a:r>
            <a:r>
              <a:rPr lang="en-US" sz="1600" b="1" dirty="0"/>
              <a:t>MySQL Connector (</a:t>
            </a:r>
            <a:r>
              <a:rPr lang="en-US" sz="1600" b="1" dirty="0" err="1"/>
              <a:t>mysql</a:t>
            </a:r>
            <a:r>
              <a:rPr lang="en-US" sz="1600" b="1" dirty="0"/>
              <a:t>-connector-python)</a:t>
            </a:r>
            <a:r>
              <a:rPr lang="en-US" sz="1600" dirty="0"/>
              <a:t> and proper configuration of host, user, and </a:t>
            </a:r>
            <a:r>
              <a:rPr lang="en-US" sz="1600" dirty="0" smtClean="0"/>
              <a:t>database</a:t>
            </a:r>
            <a:endParaRPr lang="en-US" sz="1600" b="1" dirty="0" smtClean="0"/>
          </a:p>
          <a:p>
            <a:pPr lvl="0" defTabSz="914400" eaLnBrk="0" fontAlgn="base" hangingPunct="0">
              <a:spcBef>
                <a:spcPct val="0"/>
              </a:spcBef>
              <a:spcAft>
                <a:spcPct val="0"/>
              </a:spcAft>
            </a:pPr>
            <a:endParaRPr kumimoji="0" lang="en-US" altLang="en-US" sz="1600" b="1" i="0" u="none"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smtClean="0">
                <a:ln>
                  <a:noFill/>
                </a:ln>
                <a:solidFill>
                  <a:schemeClr val="tx1"/>
                </a:solidFill>
                <a:effectLst/>
              </a:rPr>
              <a:t>Missing Values in Product Category &amp; Rating</a:t>
            </a:r>
            <a:r>
              <a:rPr kumimoji="0" lang="en-US" altLang="en-US" sz="1600" b="0" i="0" u="none" strike="noStrike" cap="none" normalizeH="0" baseline="0" dirty="0" smtClean="0">
                <a:ln>
                  <a:noFill/>
                </a:ln>
                <a:solidFill>
                  <a:schemeClr val="tx1"/>
                </a:solidFill>
                <a:effectLst/>
              </a:rPr>
              <a:t/>
            </a:r>
            <a:br>
              <a:rPr kumimoji="0" lang="en-US" altLang="en-US" sz="1600" b="0" i="0" u="none" strike="noStrike" cap="none" normalizeH="0" baseline="0" dirty="0" smtClean="0">
                <a:ln>
                  <a:noFill/>
                </a:ln>
                <a:solidFill>
                  <a:schemeClr val="tx1"/>
                </a:solidFill>
                <a:effectLst/>
              </a:rPr>
            </a:br>
            <a:r>
              <a:rPr kumimoji="0" lang="en-US" altLang="en-US" sz="1600" b="0" i="0" u="none" strike="noStrike" cap="none" normalizeH="0" baseline="0" dirty="0" smtClean="0">
                <a:ln>
                  <a:noFill/>
                </a:ln>
                <a:solidFill>
                  <a:schemeClr val="tx1"/>
                </a:solidFill>
                <a:effectLst/>
              </a:rPr>
              <a:t>Solved using mode imputation and removing critical missing rows.</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smtClean="0">
                <a:ln>
                  <a:noFill/>
                </a:ln>
                <a:solidFill>
                  <a:schemeClr val="tx1"/>
                </a:solidFill>
                <a:effectLst/>
              </a:rPr>
              <a:t> </a:t>
            </a:r>
            <a:r>
              <a:rPr kumimoji="0" lang="en-US" altLang="en-US" sz="1600" b="1" i="0" u="none" strike="noStrike" cap="none" normalizeH="0" baseline="0" dirty="0" smtClean="0">
                <a:ln>
                  <a:noFill/>
                </a:ln>
                <a:solidFill>
                  <a:schemeClr val="tx1"/>
                </a:solidFill>
                <a:effectLst/>
              </a:rPr>
              <a:t>Incorrect Date Format (</a:t>
            </a:r>
            <a:r>
              <a:rPr kumimoji="0" lang="en-US" altLang="en-US" sz="1600" b="1" i="0" u="none" strike="noStrike" cap="none" normalizeH="0" baseline="0" dirty="0" err="1" smtClean="0">
                <a:ln>
                  <a:noFill/>
                </a:ln>
                <a:solidFill>
                  <a:schemeClr val="tx1"/>
                </a:solidFill>
                <a:effectLst/>
              </a:rPr>
              <a:t>order_date</a:t>
            </a:r>
            <a:r>
              <a:rPr kumimoji="0" lang="en-US" altLang="en-US" sz="1600" b="1" i="0" u="none" strike="noStrike" cap="none" normalizeH="0" baseline="0" dirty="0" smtClean="0">
                <a:ln>
                  <a:noFill/>
                </a:ln>
                <a:solidFill>
                  <a:schemeClr val="tx1"/>
                </a:solidFill>
                <a:effectLst/>
              </a:rPr>
              <a:t>)</a:t>
            </a:r>
            <a:r>
              <a:rPr kumimoji="0" lang="en-US" altLang="en-US" sz="1600" b="0" i="0" u="none" strike="noStrike" cap="none" normalizeH="0" baseline="0" dirty="0" smtClean="0">
                <a:ln>
                  <a:noFill/>
                </a:ln>
                <a:solidFill>
                  <a:schemeClr val="tx1"/>
                </a:solidFill>
                <a:effectLst/>
              </a:rPr>
              <a:t/>
            </a:r>
            <a:br>
              <a:rPr kumimoji="0" lang="en-US" altLang="en-US" sz="1600" b="0" i="0" u="none" strike="noStrike" cap="none" normalizeH="0" baseline="0" dirty="0" smtClean="0">
                <a:ln>
                  <a:noFill/>
                </a:ln>
                <a:solidFill>
                  <a:schemeClr val="tx1"/>
                </a:solidFill>
                <a:effectLst/>
              </a:rPr>
            </a:br>
            <a:r>
              <a:rPr kumimoji="0" lang="en-US" altLang="en-US" sz="1600" b="0" i="0" u="none" strike="noStrike" cap="none" normalizeH="0" baseline="0" dirty="0" smtClean="0">
                <a:ln>
                  <a:noFill/>
                </a:ln>
                <a:solidFill>
                  <a:schemeClr val="tx1"/>
                </a:solidFill>
                <a:effectLst/>
              </a:rPr>
              <a:t>→ Converted to </a:t>
            </a:r>
            <a:r>
              <a:rPr kumimoji="0" lang="en-US" altLang="en-US" sz="1600" b="0" i="0" u="none" strike="noStrike" cap="none" normalizeH="0" baseline="0" dirty="0" err="1" smtClean="0">
                <a:ln>
                  <a:noFill/>
                </a:ln>
                <a:solidFill>
                  <a:schemeClr val="tx1"/>
                </a:solidFill>
                <a:effectLst/>
              </a:rPr>
              <a:t>datetime</a:t>
            </a:r>
            <a:r>
              <a:rPr kumimoji="0" lang="en-US" altLang="en-US" sz="1600" b="0" i="0" u="none" strike="noStrike" cap="none" normalizeH="0" baseline="0" dirty="0" smtClean="0">
                <a:ln>
                  <a:noFill/>
                </a:ln>
                <a:solidFill>
                  <a:schemeClr val="tx1"/>
                </a:solidFill>
                <a:effectLst/>
              </a:rPr>
              <a:t> format for time-based analysis.</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smtClean="0">
                <a:ln>
                  <a:noFill/>
                </a:ln>
                <a:solidFill>
                  <a:schemeClr val="tx1"/>
                </a:solidFill>
                <a:effectLst/>
              </a:rPr>
              <a:t>Handling Duplicate Records</a:t>
            </a:r>
            <a:r>
              <a:rPr kumimoji="0" lang="en-US" altLang="en-US" sz="1600" b="0" i="0" u="none" strike="noStrike" cap="none" normalizeH="0" baseline="0" dirty="0" smtClean="0">
                <a:ln>
                  <a:noFill/>
                </a:ln>
                <a:solidFill>
                  <a:schemeClr val="tx1"/>
                </a:solidFill>
                <a:effectLst/>
              </a:rPr>
              <a:t/>
            </a:r>
            <a:br>
              <a:rPr kumimoji="0" lang="en-US" altLang="en-US" sz="1600" b="0" i="0" u="none" strike="noStrike" cap="none" normalizeH="0" baseline="0" dirty="0" smtClean="0">
                <a:ln>
                  <a:noFill/>
                </a:ln>
                <a:solidFill>
                  <a:schemeClr val="tx1"/>
                </a:solidFill>
                <a:effectLst/>
              </a:rPr>
            </a:br>
            <a:r>
              <a:rPr kumimoji="0" lang="en-US" altLang="en-US" sz="1600" b="0" i="0" u="none" strike="noStrike" cap="none" normalizeH="0" baseline="0" dirty="0" smtClean="0">
                <a:ln>
                  <a:noFill/>
                </a:ln>
                <a:solidFill>
                  <a:schemeClr val="tx1"/>
                </a:solidFill>
                <a:effectLst/>
              </a:rPr>
              <a:t>→ Identified </a:t>
            </a:r>
            <a:r>
              <a:rPr kumimoji="0" lang="en-US" altLang="en-US" sz="1600" b="1" i="0" u="none" strike="noStrike" cap="none" normalizeH="0" baseline="0" dirty="0" smtClean="0">
                <a:ln>
                  <a:noFill/>
                </a:ln>
                <a:solidFill>
                  <a:schemeClr val="tx1"/>
                </a:solidFill>
                <a:effectLst/>
              </a:rPr>
              <a:t>using </a:t>
            </a:r>
            <a:r>
              <a:rPr kumimoji="0" lang="en-US" altLang="en-US" sz="1600" b="1" i="0" u="none" strike="noStrike" cap="none" normalizeH="0" baseline="0" dirty="0" err="1" smtClean="0">
                <a:ln>
                  <a:noFill/>
                </a:ln>
                <a:solidFill>
                  <a:schemeClr val="tx1"/>
                </a:solidFill>
                <a:effectLst/>
              </a:rPr>
              <a:t>df.duplicated</a:t>
            </a:r>
            <a:r>
              <a:rPr kumimoji="0" lang="en-US" altLang="en-US" sz="1600" b="1" i="0" u="none" strike="noStrike" cap="none" normalizeH="0" baseline="0" dirty="0" smtClean="0">
                <a:ln>
                  <a:noFill/>
                </a:ln>
                <a:solidFill>
                  <a:schemeClr val="tx1"/>
                </a:solidFill>
                <a:effectLst/>
              </a:rPr>
              <a:t>() and removed duplicates.</a:t>
            </a:r>
          </a:p>
          <a:p>
            <a:pPr marR="0" lvl="0" algn="l" defTabSz="914400" rtl="0" eaLnBrk="0" fontAlgn="base" latinLnBrk="0" hangingPunct="0">
              <a:lnSpc>
                <a:spcPct val="100000"/>
              </a:lnSpc>
              <a:spcBef>
                <a:spcPct val="0"/>
              </a:spcBef>
              <a:spcAft>
                <a:spcPct val="0"/>
              </a:spcAft>
              <a:buClrTx/>
              <a:buSzTx/>
              <a:tabLst/>
            </a:pPr>
            <a:endParaRPr kumimoji="0" lang="en-US" altLang="en-US" sz="1600" b="1" i="0" u="none"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1600" b="1" dirty="0" smtClean="0"/>
              <a:t>Visualization </a:t>
            </a:r>
            <a:r>
              <a:rPr lang="en-US" sz="1600" b="1" dirty="0"/>
              <a:t>&amp; Chart Selection Issue</a:t>
            </a:r>
            <a:r>
              <a:rPr lang="en-US" sz="1600" dirty="0"/>
              <a:t/>
            </a:r>
            <a:br>
              <a:rPr lang="en-US" sz="1600" dirty="0"/>
            </a:br>
            <a:r>
              <a:rPr lang="en-US" sz="1600" dirty="0"/>
              <a:t>→ Selected appropriate visuals (bar chart, pie chart, </a:t>
            </a:r>
            <a:r>
              <a:rPr lang="en-US" sz="1600" dirty="0" err="1"/>
              <a:t>treemap</a:t>
            </a:r>
            <a:r>
              <a:rPr lang="en-US" sz="1600" dirty="0"/>
              <a:t>) </a:t>
            </a:r>
            <a:endParaRPr lang="en-US" sz="1600" dirty="0" smtClean="0"/>
          </a:p>
          <a:p>
            <a:pPr marR="0" lvl="0" algn="l" defTabSz="914400" rtl="0" eaLnBrk="0" fontAlgn="base" latinLnBrk="0" hangingPunct="0">
              <a:lnSpc>
                <a:spcPct val="100000"/>
              </a:lnSpc>
              <a:spcBef>
                <a:spcPct val="0"/>
              </a:spcBef>
              <a:spcAft>
                <a:spcPct val="0"/>
              </a:spcAft>
              <a:buClrTx/>
              <a:buSzTx/>
              <a:tabLst/>
            </a:pPr>
            <a:endParaRPr lang="en-US" sz="1600" dirty="0"/>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smtClean="0">
                <a:ln>
                  <a:noFill/>
                </a:ln>
                <a:solidFill>
                  <a:schemeClr val="tx1"/>
                </a:solidFill>
                <a:effectLst/>
              </a:rPr>
              <a:t> </a:t>
            </a:r>
            <a:r>
              <a:rPr kumimoji="0" lang="en-US" altLang="en-US" sz="1600" b="1" i="0" u="none" strike="noStrike" cap="none" normalizeH="0" baseline="0" dirty="0" smtClean="0">
                <a:ln>
                  <a:noFill/>
                </a:ln>
                <a:solidFill>
                  <a:schemeClr val="tx1"/>
                </a:solidFill>
                <a:effectLst/>
              </a:rPr>
              <a:t>Feature Selection Challenge</a:t>
            </a:r>
            <a:r>
              <a:rPr kumimoji="0" lang="en-US" altLang="en-US" sz="1600" b="0" i="0" u="none" strike="noStrike" cap="none" normalizeH="0" baseline="0" dirty="0" smtClean="0">
                <a:ln>
                  <a:noFill/>
                </a:ln>
                <a:solidFill>
                  <a:schemeClr val="tx1"/>
                </a:solidFill>
                <a:effectLst/>
              </a:rPr>
              <a:t/>
            </a:r>
            <a:br>
              <a:rPr kumimoji="0" lang="en-US" altLang="en-US" sz="1600" b="0" i="0" u="none" strike="noStrike" cap="none" normalizeH="0" baseline="0" dirty="0" smtClean="0">
                <a:ln>
                  <a:noFill/>
                </a:ln>
                <a:solidFill>
                  <a:schemeClr val="tx1"/>
                </a:solidFill>
                <a:effectLst/>
              </a:rPr>
            </a:br>
            <a:r>
              <a:rPr kumimoji="0" lang="en-US" altLang="en-US" sz="1600" b="0" i="0" u="none" strike="noStrike" cap="none" normalizeH="0" baseline="0" dirty="0" smtClean="0">
                <a:ln>
                  <a:noFill/>
                </a:ln>
                <a:solidFill>
                  <a:schemeClr val="tx1"/>
                </a:solidFill>
                <a:effectLst/>
              </a:rPr>
              <a:t>→ Identified important features like month, </a:t>
            </a:r>
            <a:r>
              <a:rPr kumimoji="0" lang="en-US" altLang="en-US" sz="1600" b="0" i="0" u="none" strike="noStrike" cap="none" normalizeH="0" baseline="0" dirty="0" err="1" smtClean="0">
                <a:ln>
                  <a:noFill/>
                </a:ln>
                <a:solidFill>
                  <a:schemeClr val="tx1"/>
                </a:solidFill>
                <a:effectLst/>
              </a:rPr>
              <a:t>day_name</a:t>
            </a:r>
            <a:r>
              <a:rPr kumimoji="0" lang="en-US" altLang="en-US" sz="1600" b="0" i="0" u="none" strike="noStrike" cap="none" normalizeH="0" baseline="0" dirty="0" smtClean="0">
                <a:ln>
                  <a:noFill/>
                </a:ln>
                <a:solidFill>
                  <a:schemeClr val="tx1"/>
                </a:solidFill>
                <a:effectLst/>
              </a:rPr>
              <a:t> for better insights</a:t>
            </a:r>
          </a:p>
        </p:txBody>
      </p:sp>
    </p:spTree>
    <p:extLst>
      <p:ext uri="{BB962C8B-B14F-4D97-AF65-F5344CB8AC3E}">
        <p14:creationId xmlns:p14="http://schemas.microsoft.com/office/powerpoint/2010/main" val="2970071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11973C2-EB8B-452A-A698-4A252FD3AE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10162E77-11AD-44A7-84EC-40C59EEFBD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94F5C6-7BC7-46F9-B4EA-699CF1CCF7B1}"/>
              </a:ext>
            </a:extLst>
          </p:cNvPr>
          <p:cNvSpPr>
            <a:spLocks noGrp="1"/>
          </p:cNvSpPr>
          <p:nvPr>
            <p:ph type="title"/>
          </p:nvPr>
        </p:nvSpPr>
        <p:spPr>
          <a:xfrm>
            <a:off x="5090161" y="-280624"/>
            <a:ext cx="6368142" cy="1120379"/>
          </a:xfrm>
        </p:spPr>
        <p:txBody>
          <a:bodyPr>
            <a:normAutofit/>
          </a:bodyPr>
          <a:lstStyle/>
          <a:p>
            <a:r>
              <a:rPr lang="en-US" b="1" u="sng" dirty="0"/>
              <a:t>Recommendations</a:t>
            </a:r>
            <a:endParaRPr lang="en-IN" u="sng" dirty="0"/>
          </a:p>
        </p:txBody>
      </p:sp>
      <p:pic>
        <p:nvPicPr>
          <p:cNvPr id="7" name="Picture 6" descr="Magnifying glass showing decling performance">
            <a:extLst>
              <a:ext uri="{FF2B5EF4-FFF2-40B4-BE49-F238E27FC236}">
                <a16:creationId xmlns:a16="http://schemas.microsoft.com/office/drawing/2014/main" id="{648A978D-34B0-80E6-A688-426B261EA2AE}"/>
              </a:ext>
            </a:extLst>
          </p:cNvPr>
          <p:cNvPicPr>
            <a:picLocks noChangeAspect="1"/>
          </p:cNvPicPr>
          <p:nvPr/>
        </p:nvPicPr>
        <p:blipFill>
          <a:blip r:embed="rId3"/>
          <a:srcRect l="12107" r="42672" b="1"/>
          <a:stretch>
            <a:fillRect/>
          </a:stretch>
        </p:blipFill>
        <p:spPr>
          <a:xfrm>
            <a:off x="0" y="-12127"/>
            <a:ext cx="4991432" cy="6870127"/>
          </a:xfrm>
          <a:prstGeom prst="rect">
            <a:avLst/>
          </a:prstGeom>
        </p:spPr>
      </p:pic>
      <p:cxnSp>
        <p:nvCxnSpPr>
          <p:cNvPr id="15" name="Straight Connector 14">
            <a:extLst>
              <a:ext uri="{FF2B5EF4-FFF2-40B4-BE49-F238E27FC236}">
                <a16:creationId xmlns:a16="http://schemas.microsoft.com/office/drawing/2014/main" id="{5AB158E9-1B40-4CD6-95F0-95CA11DF7B7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090161" y="727789"/>
            <a:ext cx="6065519" cy="6372808"/>
          </a:xfrm>
        </p:spPr>
        <p:txBody>
          <a:bodyPr/>
          <a:lstStyle/>
          <a:p>
            <a:r>
              <a:rPr lang="en-US" sz="1400" b="1" dirty="0"/>
              <a:t>1.) Product Strategy: Focus on High-Performing Categories</a:t>
            </a:r>
          </a:p>
          <a:p>
            <a:r>
              <a:rPr lang="en-US" sz="1400" dirty="0"/>
              <a:t>Customize marketing efforts to promote </a:t>
            </a:r>
            <a:r>
              <a:rPr lang="en-US" sz="1400" b="1" dirty="0"/>
              <a:t>Beauty category (~6.9M revenue)</a:t>
            </a:r>
            <a:r>
              <a:rPr lang="en-US" sz="1400" dirty="0"/>
              <a:t> as it drives maximum sales.</a:t>
            </a:r>
            <a:br>
              <a:rPr lang="en-US" sz="1400" dirty="0"/>
            </a:br>
            <a:r>
              <a:rPr lang="en-US" sz="1400" dirty="0"/>
              <a:t>Introduce premium product lines and bundles to increase profitability.</a:t>
            </a:r>
            <a:br>
              <a:rPr lang="en-US" sz="1400" dirty="0"/>
            </a:br>
            <a:r>
              <a:rPr lang="en-US" sz="1400" dirty="0"/>
              <a:t>Ensure sufficient inventory to avoid stock-outs in high-demand categories</a:t>
            </a:r>
            <a:r>
              <a:rPr lang="en-US" sz="1400" dirty="0" smtClean="0"/>
              <a:t>.</a:t>
            </a:r>
          </a:p>
          <a:p>
            <a:r>
              <a:rPr lang="en-US" sz="1400" b="1" dirty="0"/>
              <a:t>2.) Improve Low-Performing Categories</a:t>
            </a:r>
          </a:p>
          <a:p>
            <a:r>
              <a:rPr lang="en-US" sz="1400" dirty="0"/>
              <a:t>Apply targeted promotions for </a:t>
            </a:r>
            <a:r>
              <a:rPr lang="en-US" sz="1400" b="1" dirty="0"/>
              <a:t>Electronics &amp; Sports</a:t>
            </a:r>
            <a:r>
              <a:rPr lang="en-US" sz="1400" dirty="0"/>
              <a:t> categories to boost demand.</a:t>
            </a:r>
            <a:br>
              <a:rPr lang="en-US" sz="1400" dirty="0"/>
            </a:br>
            <a:r>
              <a:rPr lang="en-US" sz="1400" dirty="0"/>
              <a:t>Enhance product visibility using better listings, ads, and </a:t>
            </a:r>
            <a:r>
              <a:rPr lang="en-US" sz="1400" dirty="0" err="1" smtClean="0"/>
              <a:t>recommendations.Re</a:t>
            </a:r>
            <a:r>
              <a:rPr lang="en-US" sz="1400" dirty="0" smtClean="0"/>
              <a:t>-evaluate </a:t>
            </a:r>
            <a:r>
              <a:rPr lang="en-US" sz="1400" dirty="0"/>
              <a:t>pricing strategy to stay competitive</a:t>
            </a:r>
            <a:r>
              <a:rPr lang="en-US" sz="1400" dirty="0" smtClean="0"/>
              <a:t>.</a:t>
            </a:r>
          </a:p>
          <a:p>
            <a:r>
              <a:rPr lang="en-US" sz="1400" b="1" dirty="0" smtClean="0"/>
              <a:t>3</a:t>
            </a:r>
            <a:r>
              <a:rPr lang="en-US" sz="1400" b="1" dirty="0"/>
              <a:t>.) Pricing &amp; Discount </a:t>
            </a:r>
            <a:r>
              <a:rPr lang="en-US" sz="1400" b="1" dirty="0" smtClean="0"/>
              <a:t>Optimization Avoid </a:t>
            </a:r>
            <a:r>
              <a:rPr lang="en-US" sz="1400" dirty="0"/>
              <a:t>excessive discounts as </a:t>
            </a:r>
            <a:r>
              <a:rPr lang="en-US" sz="1400" b="1" dirty="0"/>
              <a:t>low discount category generates highest revenue</a:t>
            </a:r>
            <a:r>
              <a:rPr lang="en-US" sz="1400" dirty="0"/>
              <a:t>.</a:t>
            </a:r>
            <a:br>
              <a:rPr lang="en-US" sz="1400" dirty="0"/>
            </a:br>
            <a:r>
              <a:rPr lang="en-US" sz="1400" dirty="0"/>
              <a:t>Focus on value-based pricing instead of heavy discounting.</a:t>
            </a:r>
            <a:br>
              <a:rPr lang="en-US" sz="1400" dirty="0"/>
            </a:br>
            <a:r>
              <a:rPr lang="en-US" sz="1400" dirty="0"/>
              <a:t>Use strategic discounts only during low-performing periods.</a:t>
            </a:r>
          </a:p>
          <a:p>
            <a:r>
              <a:rPr lang="en-US" sz="1400" b="1" dirty="0"/>
              <a:t>4.) Customer Experience &amp; Payment Optimization</a:t>
            </a:r>
          </a:p>
          <a:p>
            <a:r>
              <a:rPr lang="en-US" sz="1400" dirty="0"/>
              <a:t>Encourage digital payments like </a:t>
            </a:r>
            <a:r>
              <a:rPr lang="en-US" sz="1400" b="1" dirty="0"/>
              <a:t>Wallet &amp; UPI (~20% each)</a:t>
            </a:r>
            <a:r>
              <a:rPr lang="en-US" sz="1400" dirty="0"/>
              <a:t> through cashback and offers.</a:t>
            </a:r>
            <a:br>
              <a:rPr lang="en-US" sz="1400" dirty="0"/>
            </a:br>
            <a:r>
              <a:rPr lang="en-US" sz="1400" dirty="0"/>
              <a:t>Simplify checkout experience to reduce cart abandonment.</a:t>
            </a:r>
            <a:br>
              <a:rPr lang="en-US" sz="1400" dirty="0"/>
            </a:br>
            <a:r>
              <a:rPr lang="en-US" sz="1400" dirty="0"/>
              <a:t>Introduce loyalty rewards for repeat customers.</a:t>
            </a:r>
          </a:p>
          <a:p>
            <a:r>
              <a:rPr lang="en-US" sz="1400" b="1" dirty="0"/>
              <a:t>5.) Seasonal Sales Strategy</a:t>
            </a:r>
          </a:p>
          <a:p>
            <a:r>
              <a:rPr lang="en-US" sz="1400" dirty="0"/>
              <a:t>Leverage peak sales month (</a:t>
            </a:r>
            <a:r>
              <a:rPr lang="en-US" sz="1400" b="1" dirty="0"/>
              <a:t>January</a:t>
            </a:r>
            <a:r>
              <a:rPr lang="en-US" sz="1400" dirty="0"/>
              <a:t>) with aggressive campaigns.</a:t>
            </a:r>
            <a:br>
              <a:rPr lang="en-US" sz="1400" dirty="0"/>
            </a:br>
            <a:r>
              <a:rPr lang="en-US" sz="1400" dirty="0"/>
              <a:t>Introduce special offers during low-sales periods (</a:t>
            </a:r>
            <a:r>
              <a:rPr lang="en-US" sz="1400" b="1" dirty="0"/>
              <a:t>February</a:t>
            </a:r>
            <a:r>
              <a:rPr lang="en-US" sz="1400" dirty="0"/>
              <a:t>) to maintain consistency.</a:t>
            </a:r>
            <a:br>
              <a:rPr lang="en-US" sz="1400" dirty="0"/>
            </a:br>
            <a:r>
              <a:rPr lang="en-US" sz="1400" dirty="0"/>
              <a:t>Plan marketing campaigns aligned with seasonal trends.</a:t>
            </a:r>
          </a:p>
          <a:p>
            <a:endParaRPr lang="en-US" sz="1200" dirty="0" smtClean="0"/>
          </a:p>
          <a:p>
            <a:pPr marL="0" indent="0">
              <a:buNone/>
            </a:pPr>
            <a:endParaRPr lang="en-US" sz="1200" dirty="0" smtClean="0"/>
          </a:p>
          <a:p>
            <a:endParaRPr lang="en-US" sz="1200" dirty="0" smtClean="0"/>
          </a:p>
          <a:p>
            <a:endParaRPr lang="en-US" sz="1200" dirty="0"/>
          </a:p>
          <a:p>
            <a:endParaRPr lang="en-US" dirty="0"/>
          </a:p>
        </p:txBody>
      </p:sp>
    </p:spTree>
    <p:extLst>
      <p:ext uri="{BB962C8B-B14F-4D97-AF65-F5344CB8AC3E}">
        <p14:creationId xmlns:p14="http://schemas.microsoft.com/office/powerpoint/2010/main" val="4118489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E3C967-8B81-1351-AA51-1196BC2D5B25}"/>
              </a:ext>
            </a:extLst>
          </p:cNvPr>
          <p:cNvSpPr>
            <a:spLocks noGrp="1"/>
          </p:cNvSpPr>
          <p:nvPr>
            <p:ph type="title"/>
          </p:nvPr>
        </p:nvSpPr>
        <p:spPr>
          <a:xfrm>
            <a:off x="4654296" y="522514"/>
            <a:ext cx="6895447" cy="1039505"/>
          </a:xfrm>
        </p:spPr>
        <p:txBody>
          <a:bodyPr>
            <a:normAutofit/>
          </a:bodyPr>
          <a:lstStyle/>
          <a:p>
            <a:r>
              <a:rPr lang="en-IN" b="1" u="sng" dirty="0" smtClean="0"/>
              <a:t>Conclusion</a:t>
            </a:r>
            <a:endParaRPr lang="en-IN" b="1" u="sng" dirty="0"/>
          </a:p>
        </p:txBody>
      </p:sp>
      <p:pic>
        <p:nvPicPr>
          <p:cNvPr id="5" name="Picture 4" descr="3D Hologram from iPad">
            <a:extLst>
              <a:ext uri="{FF2B5EF4-FFF2-40B4-BE49-F238E27FC236}">
                <a16:creationId xmlns:a16="http://schemas.microsoft.com/office/drawing/2014/main" id="{D5F70574-E071-6128-F541-8043B6655AAC}"/>
              </a:ext>
            </a:extLst>
          </p:cNvPr>
          <p:cNvPicPr>
            <a:picLocks noChangeAspect="1"/>
          </p:cNvPicPr>
          <p:nvPr/>
        </p:nvPicPr>
        <p:blipFill>
          <a:blip r:embed="rId2"/>
          <a:srcRect l="18736" r="36043" b="1"/>
          <a:stretch>
            <a:fillRect/>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A8D05C1-D404-20A0-9545-C4A790A9751F}"/>
              </a:ext>
            </a:extLst>
          </p:cNvPr>
          <p:cNvSpPr>
            <a:spLocks noGrp="1"/>
          </p:cNvSpPr>
          <p:nvPr>
            <p:ph idx="1"/>
          </p:nvPr>
        </p:nvSpPr>
        <p:spPr>
          <a:xfrm>
            <a:off x="4851918" y="1562019"/>
            <a:ext cx="6705113" cy="5165352"/>
          </a:xfrm>
        </p:spPr>
        <p:txBody>
          <a:bodyPr>
            <a:normAutofit fontScale="92500" lnSpcReduction="20000"/>
          </a:bodyPr>
          <a:lstStyle/>
          <a:p>
            <a:pPr>
              <a:buFont typeface="Wingdings" panose="05000000000000000000" pitchFamily="2" charset="2"/>
              <a:buChar char="q"/>
            </a:pPr>
            <a:r>
              <a:rPr lang="en-US" sz="1600" dirty="0"/>
              <a:t>Successfully analyzed large-scale </a:t>
            </a:r>
            <a:r>
              <a:rPr lang="en-US" sz="1600" b="1" dirty="0"/>
              <a:t>e-commerce sales data (~49K+ records)</a:t>
            </a:r>
            <a:r>
              <a:rPr lang="en-US" sz="1600" dirty="0"/>
              <a:t> to uncover meaningful business </a:t>
            </a:r>
            <a:r>
              <a:rPr lang="en-US" sz="1600" dirty="0" smtClean="0"/>
              <a:t>insights</a:t>
            </a:r>
          </a:p>
          <a:p>
            <a:pPr>
              <a:buFont typeface="Wingdings" panose="05000000000000000000" pitchFamily="2" charset="2"/>
              <a:buChar char="q"/>
            </a:pPr>
            <a:r>
              <a:rPr lang="en-US" sz="1600" dirty="0"/>
              <a:t>Identified key drivers of revenue such as </a:t>
            </a:r>
            <a:r>
              <a:rPr lang="en-US" sz="1600" b="1" dirty="0"/>
              <a:t>product category (Beauty), pricing strategy, and payment </a:t>
            </a:r>
            <a:r>
              <a:rPr lang="en-US" sz="1600" b="1" dirty="0" smtClean="0"/>
              <a:t>methods</a:t>
            </a:r>
          </a:p>
          <a:p>
            <a:pPr>
              <a:buFont typeface="Wingdings" panose="05000000000000000000" pitchFamily="2" charset="2"/>
              <a:buChar char="q"/>
            </a:pPr>
            <a:r>
              <a:rPr lang="en-US" sz="1600" dirty="0" smtClean="0"/>
              <a:t>Discovered </a:t>
            </a:r>
            <a:r>
              <a:rPr lang="en-US" sz="1600" b="1" dirty="0"/>
              <a:t>seasonal trends (January peak, February dip)</a:t>
            </a:r>
            <a:r>
              <a:rPr lang="en-US" sz="1600" dirty="0"/>
              <a:t> and balanced regional </a:t>
            </a:r>
            <a:r>
              <a:rPr lang="en-US" sz="1600" dirty="0" smtClean="0"/>
              <a:t>performance</a:t>
            </a:r>
          </a:p>
          <a:p>
            <a:pPr>
              <a:buFont typeface="Wingdings" panose="05000000000000000000" pitchFamily="2" charset="2"/>
              <a:buChar char="q"/>
            </a:pPr>
            <a:r>
              <a:rPr lang="en-US" sz="1600" dirty="0" smtClean="0"/>
              <a:t>Applied </a:t>
            </a:r>
            <a:r>
              <a:rPr lang="en-US" sz="1600" b="1" dirty="0"/>
              <a:t>data cleaning, feature engineering, and EDA techniques in Python</a:t>
            </a:r>
            <a:r>
              <a:rPr lang="en-US" sz="1600" dirty="0"/>
              <a:t>, followed by visualization in Power </a:t>
            </a:r>
            <a:r>
              <a:rPr lang="en-US" sz="1600" dirty="0" smtClean="0"/>
              <a:t>BI</a:t>
            </a:r>
          </a:p>
          <a:p>
            <a:pPr marL="0" indent="0">
              <a:buNone/>
            </a:pPr>
            <a:r>
              <a:rPr lang="en-US" sz="2600" b="1" dirty="0" smtClean="0"/>
              <a:t>Future </a:t>
            </a:r>
            <a:r>
              <a:rPr lang="en-US" sz="2600" b="1" dirty="0" err="1" smtClean="0"/>
              <a:t>Sope</a:t>
            </a:r>
            <a:r>
              <a:rPr lang="en-US" sz="2600" b="1" dirty="0"/>
              <a:t>:</a:t>
            </a:r>
            <a:endParaRPr lang="en-US" sz="2600" b="1" dirty="0" smtClean="0"/>
          </a:p>
          <a:p>
            <a:pPr>
              <a:buFont typeface="Wingdings" panose="05000000000000000000" pitchFamily="2" charset="2"/>
              <a:buChar char="q"/>
            </a:pPr>
            <a:r>
              <a:rPr lang="en-US" sz="1600" dirty="0" smtClean="0"/>
              <a:t>Delivered </a:t>
            </a:r>
            <a:r>
              <a:rPr lang="en-US" sz="1600" b="1" dirty="0"/>
              <a:t>data-driven insights</a:t>
            </a:r>
            <a:r>
              <a:rPr lang="en-US" sz="1600" dirty="0"/>
              <a:t> to support better decision-making in sales, marketing, and </a:t>
            </a:r>
            <a:r>
              <a:rPr lang="en-US" sz="1600" dirty="0" smtClean="0"/>
              <a:t>operations</a:t>
            </a:r>
          </a:p>
          <a:p>
            <a:pPr>
              <a:buFont typeface="Wingdings" panose="05000000000000000000" pitchFamily="2" charset="2"/>
              <a:buChar char="q"/>
            </a:pPr>
            <a:r>
              <a:rPr lang="en-US" sz="1600" dirty="0" smtClean="0"/>
              <a:t>Develop </a:t>
            </a:r>
            <a:r>
              <a:rPr lang="en-US" sz="1600" b="1" dirty="0"/>
              <a:t>machine learning models</a:t>
            </a:r>
            <a:r>
              <a:rPr lang="en-US" sz="1600" dirty="0"/>
              <a:t> for sales forecasting and demand </a:t>
            </a:r>
            <a:r>
              <a:rPr lang="en-US" sz="1600" dirty="0" smtClean="0"/>
              <a:t>prediction</a:t>
            </a:r>
          </a:p>
          <a:p>
            <a:pPr>
              <a:buFont typeface="Wingdings" panose="05000000000000000000" pitchFamily="2" charset="2"/>
              <a:buChar char="q"/>
            </a:pPr>
            <a:r>
              <a:rPr lang="en-US" sz="1600" dirty="0" smtClean="0"/>
              <a:t>Implement </a:t>
            </a:r>
            <a:r>
              <a:rPr lang="en-US" sz="1600" b="1" dirty="0"/>
              <a:t>real-time data pipeline (MySQL → Power BI)</a:t>
            </a:r>
            <a:r>
              <a:rPr lang="en-US" sz="1600" dirty="0"/>
              <a:t> for live dashboard </a:t>
            </a:r>
            <a:r>
              <a:rPr lang="en-US" sz="1600" dirty="0" smtClean="0"/>
              <a:t>updates</a:t>
            </a:r>
          </a:p>
          <a:p>
            <a:pPr>
              <a:buFont typeface="Wingdings" panose="05000000000000000000" pitchFamily="2" charset="2"/>
              <a:buChar char="q"/>
            </a:pPr>
            <a:r>
              <a:rPr lang="en-US" sz="1600" dirty="0" smtClean="0"/>
              <a:t>Perform </a:t>
            </a:r>
            <a:r>
              <a:rPr lang="en-US" sz="1600" b="1" dirty="0"/>
              <a:t>customer segmentation (RFM / clustering)</a:t>
            </a:r>
            <a:r>
              <a:rPr lang="en-US" sz="1600" dirty="0"/>
              <a:t> for targeted </a:t>
            </a:r>
            <a:r>
              <a:rPr lang="en-US" sz="1600" dirty="0" smtClean="0"/>
              <a:t>marketing</a:t>
            </a:r>
          </a:p>
          <a:p>
            <a:pPr>
              <a:buFont typeface="Wingdings" panose="05000000000000000000" pitchFamily="2" charset="2"/>
              <a:buChar char="q"/>
            </a:pPr>
            <a:r>
              <a:rPr lang="en-US" sz="1600" dirty="0" smtClean="0"/>
              <a:t>Expand </a:t>
            </a:r>
            <a:r>
              <a:rPr lang="en-US" sz="1600" dirty="0"/>
              <a:t>dataset with </a:t>
            </a:r>
            <a:r>
              <a:rPr lang="en-US" sz="1600" b="1" dirty="0"/>
              <a:t>customer demographics, reviews, and multi-year data</a:t>
            </a:r>
            <a:r>
              <a:rPr lang="en-US" sz="1600" dirty="0"/>
              <a:t> for deeper </a:t>
            </a:r>
            <a:r>
              <a:rPr lang="en-US" sz="1600" dirty="0" smtClean="0"/>
              <a:t>analysis</a:t>
            </a:r>
          </a:p>
          <a:p>
            <a:pPr>
              <a:buFont typeface="Wingdings" panose="05000000000000000000" pitchFamily="2" charset="2"/>
              <a:buChar char="q"/>
            </a:pPr>
            <a:r>
              <a:rPr lang="en-US" sz="1600" dirty="0" smtClean="0"/>
              <a:t>Deploy </a:t>
            </a:r>
            <a:r>
              <a:rPr lang="en-US" sz="1600" dirty="0"/>
              <a:t>dashboard on </a:t>
            </a:r>
            <a:r>
              <a:rPr lang="en-US" sz="1600" b="1" dirty="0"/>
              <a:t>Power BI Service</a:t>
            </a:r>
            <a:r>
              <a:rPr lang="en-US" sz="1600" dirty="0"/>
              <a:t> with automated refresh and sharing capabilities</a:t>
            </a:r>
          </a:p>
          <a:p>
            <a:pPr>
              <a:buFont typeface="Wingdings" panose="05000000000000000000" pitchFamily="2" charset="2"/>
              <a:buChar char="q"/>
            </a:pPr>
            <a:endParaRPr lang="en-US" sz="1600" dirty="0"/>
          </a:p>
          <a:p>
            <a:endParaRPr lang="en-IN" sz="1100" dirty="0"/>
          </a:p>
        </p:txBody>
      </p:sp>
    </p:spTree>
    <p:extLst>
      <p:ext uri="{BB962C8B-B14F-4D97-AF65-F5344CB8AC3E}">
        <p14:creationId xmlns:p14="http://schemas.microsoft.com/office/powerpoint/2010/main" val="25513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7487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t>
            </a:r>
            <a:r>
              <a:rPr lang="en-US" b="1" dirty="0" smtClean="0"/>
              <a:t>onclusion</a:t>
            </a:r>
            <a:endParaRPr lang="en-US" b="1"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1464906" y="2136710"/>
            <a:ext cx="7679094" cy="1477328"/>
          </a:xfrm>
          <a:prstGeom prst="rect">
            <a:avLst/>
          </a:prstGeom>
        </p:spPr>
        <p:txBody>
          <a:bodyPr wrap="square">
            <a:spAutoFit/>
          </a:bodyPr>
          <a:lstStyle/>
          <a:p>
            <a:r>
              <a:rPr lang="en-US" dirty="0"/>
              <a:t>In conclusion, this project demonstrates how data analysis can help businesses understand trends, improve strategies, and increase revenue.</a:t>
            </a:r>
          </a:p>
          <a:p>
            <a:r>
              <a:rPr lang="en-US" dirty="0"/>
              <a:t>This shows the importance of data-driven decision making in modern businesses</a:t>
            </a:r>
            <a:r>
              <a:rPr lang="en-US" dirty="0" smtClean="0"/>
              <a:t>.</a:t>
            </a:r>
            <a:endParaRPr lang="en-US" dirty="0"/>
          </a:p>
          <a:p>
            <a:r>
              <a:rPr lang="en-US" dirty="0"/>
              <a:t>Thank you</a:t>
            </a:r>
            <a:r>
              <a:rPr lang="en-US" dirty="0" smtClean="0"/>
              <a:t>.”</a:t>
            </a:r>
          </a:p>
        </p:txBody>
      </p:sp>
    </p:spTree>
    <p:extLst>
      <p:ext uri="{BB962C8B-B14F-4D97-AF65-F5344CB8AC3E}">
        <p14:creationId xmlns:p14="http://schemas.microsoft.com/office/powerpoint/2010/main" val="88975869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2184</TotalTime>
  <Words>2115</Words>
  <Application>Microsoft Office PowerPoint</Application>
  <PresentationFormat>Widescreen</PresentationFormat>
  <Paragraphs>204</Paragraphs>
  <Slides>26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Symbol</vt:lpstr>
      <vt:lpstr>Times New Roman</vt:lpstr>
      <vt:lpstr>Wingdings</vt:lpstr>
      <vt:lpstr>Retrospect</vt:lpstr>
      <vt:lpstr>E-COMMERCE SALES ANALYSIS </vt:lpstr>
      <vt:lpstr>AGENDA</vt:lpstr>
      <vt:lpstr>Problem Statement</vt:lpstr>
      <vt:lpstr>Problem Statement</vt:lpstr>
      <vt:lpstr>PowerPoint Presentation</vt:lpstr>
      <vt:lpstr>DATA DESCRIPTION</vt:lpstr>
      <vt:lpstr>Data Cleaning (Python)</vt:lpstr>
      <vt:lpstr>PowerPoint Presentation</vt:lpstr>
      <vt:lpstr>Feature Engineering</vt:lpstr>
      <vt:lpstr>EDA (Exploratory Data Analysis)</vt:lpstr>
      <vt:lpstr>Total Revenue By Product Category</vt:lpstr>
      <vt:lpstr>Total Revenue By Payment Method</vt:lpstr>
      <vt:lpstr>Product Quantity Sold By Product Category</vt:lpstr>
      <vt:lpstr>Quantity Sold By Customer Region</vt:lpstr>
      <vt:lpstr>Total Revenue by Customer_region</vt:lpstr>
      <vt:lpstr>Total Revenue By  Year</vt:lpstr>
      <vt:lpstr>Total Sales By Month</vt:lpstr>
      <vt:lpstr>Year wise Monthly Sales</vt:lpstr>
      <vt:lpstr>PowerPoint Presentation</vt:lpstr>
      <vt:lpstr>E-Commerce Sales AnalysisS</vt:lpstr>
      <vt:lpstr>PowerPoint Presentation</vt:lpstr>
      <vt:lpstr>Challenges Faced &amp; Solutions </vt:lpstr>
      <vt:lpstr>Recommendations</vt:lpstr>
      <vt:lpstr>Conclusion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SALES ANALYSIS</dc:title>
  <dc:creator>shivani tiwari</dc:creator>
  <cp:lastModifiedBy>Admin</cp:lastModifiedBy>
  <cp:revision>88</cp:revision>
  <dcterms:created xsi:type="dcterms:W3CDTF">2025-02-03T06:57:36Z</dcterms:created>
  <dcterms:modified xsi:type="dcterms:W3CDTF">2026-04-14T10:54:20Z</dcterms:modified>
</cp:coreProperties>
</file>